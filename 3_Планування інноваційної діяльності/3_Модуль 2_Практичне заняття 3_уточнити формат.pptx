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Alice"/>
      <p:regular r:id="rId201314"/>
    </p:embeddedFont>
    <p:embeddedFont>
      <p:font typeface="Lora"/>
      <p:regular r:id="rId201315"/>
    </p:embeddedFont>
    <p:embeddedFont>
      <p:font typeface="Lora Bold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CFBF8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image" Target="../media/image-7-7.png"/><Relationship Id="rId8" Type="http://schemas.openxmlformats.org/officeDocument/2006/relationships/image" Target="../media/image-7-8.svg"/><Relationship Id="rId9" Type="http://schemas.openxmlformats.org/officeDocument/2006/relationships/image" Target="../media/image-7-9.pn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image" Target="../media/image-10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574155"/>
            <a:ext cx="4722763" cy="1328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Фінансова база інновацій та інноваційно-інвестиційне планування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3115717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Практичне заняття: звідки беруться гроші на інновації та як це враховується в плануванні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10270"/>
            <a:ext cx="7307387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Чому фінансування — ключ до інновацій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432545"/>
            <a:ext cx="5177582" cy="293392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24339" y="1393403"/>
            <a:ext cx="2628230" cy="1360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Як зазначає лекція модуля 2,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забезпечення фінансами є ключовим елементом інноваційної політики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. Форми й методи залучення ресурсів постійно змінюються разом із господарською практикою.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6024339" y="2913757"/>
            <a:ext cx="2628230" cy="1460004"/>
          </a:xfrm>
          <a:prstGeom prst="roundRect">
            <a:avLst>
              <a:gd name="adj" fmla="val 1457"/>
            </a:avLst>
          </a:prstGeom>
          <a:solidFill>
            <a:srgbClr val="B6D6FC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6098" y="3128814"/>
            <a:ext cx="177180" cy="14175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85037" y="3076724"/>
            <a:ext cx="2025774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Поява нових джерел фінансування здатна докорінно змінювати інноваційні можливості підприємства.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412031"/>
            <a:ext cx="4722763" cy="7475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Основні джерела фінансування інновацій</a:t>
            </a:r>
            <a:endParaRPr lang="en-US" sz="2350" dirty="0"/>
          </a:p>
        </p:txBody>
      </p:sp>
      <p:sp>
        <p:nvSpPr>
          <p:cNvPr id="4" name="Shape 1"/>
          <p:cNvSpPr/>
          <p:nvPr/>
        </p:nvSpPr>
        <p:spPr>
          <a:xfrm>
            <a:off x="496119" y="1310953"/>
            <a:ext cx="4722763" cy="662880"/>
          </a:xfrm>
          <a:prstGeom prst="roundRect">
            <a:avLst>
              <a:gd name="adj" fmla="val 2707"/>
            </a:avLst>
          </a:prstGeom>
          <a:solidFill>
            <a:srgbClr val="F0EDE6"/>
          </a:solidFill>
          <a:ln/>
        </p:spPr>
      </p:sp>
      <p:sp>
        <p:nvSpPr>
          <p:cNvPr id="5" name="Text 2"/>
          <p:cNvSpPr/>
          <p:nvPr/>
        </p:nvSpPr>
        <p:spPr>
          <a:xfrm>
            <a:off x="615702" y="1430536"/>
            <a:ext cx="1495202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Власні кошти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615702" y="1677888"/>
            <a:ext cx="4483596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Промислові фірми та заклади освіти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96119" y="2074738"/>
            <a:ext cx="4722763" cy="662880"/>
          </a:xfrm>
          <a:prstGeom prst="roundRect">
            <a:avLst>
              <a:gd name="adj" fmla="val 2707"/>
            </a:avLst>
          </a:prstGeom>
          <a:solidFill>
            <a:srgbClr val="F0EDE6"/>
          </a:solidFill>
          <a:ln/>
        </p:spPr>
      </p:sp>
      <p:sp>
        <p:nvSpPr>
          <p:cNvPr id="8" name="Text 5"/>
          <p:cNvSpPr/>
          <p:nvPr/>
        </p:nvSpPr>
        <p:spPr>
          <a:xfrm>
            <a:off x="615702" y="2194322"/>
            <a:ext cx="1639788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Бюджетні асигнування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615702" y="2441674"/>
            <a:ext cx="4483596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Державне фінансування науки й техніки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96119" y="2838524"/>
            <a:ext cx="4722763" cy="662880"/>
          </a:xfrm>
          <a:prstGeom prst="roundRect">
            <a:avLst>
              <a:gd name="adj" fmla="val 2707"/>
            </a:avLst>
          </a:prstGeom>
          <a:solidFill>
            <a:srgbClr val="F0EDE6"/>
          </a:solidFill>
          <a:ln/>
        </p:spPr>
      </p:sp>
      <p:sp>
        <p:nvSpPr>
          <p:cNvPr id="11" name="Text 8"/>
          <p:cNvSpPr/>
          <p:nvPr/>
        </p:nvSpPr>
        <p:spPr>
          <a:xfrm>
            <a:off x="615702" y="2958108"/>
            <a:ext cx="1495202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Кредитні ресурси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615702" y="3205460"/>
            <a:ext cx="4483596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Банківське та позабюджетне кредитування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96119" y="3602310"/>
            <a:ext cx="4722763" cy="662880"/>
          </a:xfrm>
          <a:prstGeom prst="roundRect">
            <a:avLst>
              <a:gd name="adj" fmla="val 2707"/>
            </a:avLst>
          </a:prstGeom>
          <a:solidFill>
            <a:srgbClr val="F0EDE6"/>
          </a:solidFill>
          <a:ln/>
        </p:spPr>
      </p:sp>
      <p:sp>
        <p:nvSpPr>
          <p:cNvPr id="14" name="Text 11"/>
          <p:cNvSpPr/>
          <p:nvPr/>
        </p:nvSpPr>
        <p:spPr>
          <a:xfrm>
            <a:off x="615702" y="3721894"/>
            <a:ext cx="1495202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Іноземний капітал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615702" y="3969246"/>
            <a:ext cx="4483596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Приватні заощадження та зовнішні інвестиції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496119" y="4378672"/>
            <a:ext cx="4722763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Розвиток ринкових відносин додає нові форми із залученням оборотного, статутного, акціонерного й </a:t>
            </a:r>
            <a:pPr algn="l" indent="0" marL="0">
              <a:lnSpc>
                <a:spcPct val="123000"/>
              </a:lnSpc>
              <a:buNone/>
            </a:pPr>
            <a:r>
              <a:rPr lang="en-US" sz="90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венчурного капіталу</a:t>
            </a:r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0912" y="393502"/>
            <a:ext cx="4663529" cy="346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Дві групи джерел фінансування</a:t>
            </a:r>
            <a:endParaRPr lang="en-US" sz="21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0912" y="966713"/>
            <a:ext cx="3685952" cy="36859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11750" y="2037978"/>
            <a:ext cx="2084710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Бюджетне фінансування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4711750" y="2297460"/>
            <a:ext cx="3685952" cy="631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Норма: не менше </a:t>
            </a:r>
            <a:pPr algn="l" indent="0" marL="0">
              <a:lnSpc>
                <a:spcPct val="119000"/>
              </a:lnSpc>
              <a:buNone/>
            </a:pPr>
            <a:r>
              <a:rPr lang="en-US" sz="8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3% видаткової частини</a:t>
            </a:r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річного бюджету на цивільні дослідження. Кошти виділяють під конкретні проєкти — якщо проміжні результати незадовільні, фінансування припиняється.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4711750" y="3014960"/>
            <a:ext cx="2380952" cy="1730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Позабюджетне фінансування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4711750" y="3274442"/>
            <a:ext cx="3685952" cy="315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Провідну роль відіграють </a:t>
            </a:r>
            <a:pPr algn="l" indent="0" marL="0">
              <a:lnSpc>
                <a:spcPct val="119000"/>
              </a:lnSpc>
              <a:buNone/>
            </a:pPr>
            <a:r>
              <a:rPr lang="en-US" sz="8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власні кошти підприємств</a:t>
            </a:r>
            <a:pPr algn="l" indent="0" marL="0">
              <a:lnSpc>
                <a:spcPct val="119000"/>
              </a:lnSpc>
              <a:buNone/>
            </a:pPr>
            <a:r>
              <a:rPr lang="en-US" sz="8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: прибуток, амортизаційний фонд і статутний капітал.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24297"/>
            <a:ext cx="7179766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Власні кошти як основа фінансової бази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650802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У розвинутих країнах власні кошти підприємницького сектора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посідають провідне місце і постійно зростають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— саме товаровиробники найбільше зацікавлені в завершених розробках.</a:t>
            </a:r>
            <a:endParaRPr lang="en-US" sz="11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2263899"/>
            <a:ext cx="2622724" cy="195530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01180" y="2362646"/>
            <a:ext cx="212601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1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656927" y="2849984"/>
            <a:ext cx="2301106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Підтримка конкурентоспроможності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56927" y="3377952"/>
            <a:ext cx="2301106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Удосконалення наявного виробництва — фінансується найповніше (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60–95%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)</a:t>
            </a:r>
            <a:endParaRPr lang="en-US" sz="11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60601" y="2263899"/>
            <a:ext cx="2622724" cy="195530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465662" y="2362646"/>
            <a:ext cx="212601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2</a:t>
            </a:r>
            <a:endParaRPr lang="en-US" sz="1650" dirty="0"/>
          </a:p>
        </p:txBody>
      </p:sp>
      <p:sp>
        <p:nvSpPr>
          <p:cNvPr id="10" name="Text 6"/>
          <p:cNvSpPr/>
          <p:nvPr/>
        </p:nvSpPr>
        <p:spPr>
          <a:xfrm>
            <a:off x="3421410" y="2849984"/>
            <a:ext cx="2301106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Нові сфери застосування капіталу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3421410" y="3377952"/>
            <a:ext cx="230110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Нова продукція й технології — також пріоритетне фінансування</a:t>
            </a:r>
            <a:endParaRPr lang="en-US" sz="11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25083" y="2263899"/>
            <a:ext cx="2622724" cy="195530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230145" y="2362646"/>
            <a:ext cx="212601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3</a:t>
            </a:r>
            <a:endParaRPr lang="en-US" sz="1650" dirty="0"/>
          </a:p>
        </p:txBody>
      </p:sp>
      <p:sp>
        <p:nvSpPr>
          <p:cNvPr id="14" name="Text 9"/>
          <p:cNvSpPr/>
          <p:nvPr/>
        </p:nvSpPr>
        <p:spPr>
          <a:xfrm>
            <a:off x="6185892" y="2849984"/>
            <a:ext cx="2301106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Фундаментальні дослідження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6185892" y="3377952"/>
            <a:ext cx="230110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Ведуть здебільшого лише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великі фірми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795611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Оцінка ефективності витрат на дослідження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2894186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У ринкових умовах НДДКР є частиною підприємницької стратегії. Лекція виділяє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чотири методи оцінки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: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1492"/>
            <a:ext cx="7789069" cy="436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Чотири методи оцінки ефективності НДДКР</a:t>
            </a:r>
            <a:endParaRPr lang="en-US" sz="2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102296"/>
            <a:ext cx="348853" cy="34885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1622822"/>
            <a:ext cx="1879029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Метод співвідношення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96119" y="1923231"/>
            <a:ext cx="3990008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Порівняння дослідницьких витрат з основними показниками діяльності фірми</a:t>
            </a:r>
            <a:endParaRPr lang="en-US" sz="10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57799" y="1102296"/>
            <a:ext cx="348853" cy="34885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657799" y="1622822"/>
            <a:ext cx="1744340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Метод «руху коштів»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4657799" y="1923231"/>
            <a:ext cx="3990082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Контроль витрат і надходжень у координатах «час – кошти»</a:t>
            </a:r>
            <a:endParaRPr lang="en-US" sz="10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19" y="2640881"/>
            <a:ext cx="348853" cy="34885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96119" y="3161407"/>
            <a:ext cx="2012603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Метод «кінцевої оцінки»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496119" y="3461817"/>
            <a:ext cx="399000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Ретельний аналіз результатів після завершення робіт</a:t>
            </a:r>
            <a:endParaRPr lang="en-US" sz="10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57799" y="2640881"/>
            <a:ext cx="348853" cy="34885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657799" y="3161407"/>
            <a:ext cx="2363019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Метод «оголошених доходів»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4657799" y="3461817"/>
            <a:ext cx="399008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Оцінка на основі задекларованих дослідницьких доходів</a:t>
            </a:r>
            <a:endParaRPr lang="en-US" sz="1050" dirty="0"/>
          </a:p>
        </p:txBody>
      </p:sp>
      <p:sp>
        <p:nvSpPr>
          <p:cNvPr id="15" name="Shape 9"/>
          <p:cNvSpPr/>
          <p:nvPr/>
        </p:nvSpPr>
        <p:spPr>
          <a:xfrm>
            <a:off x="496119" y="3837756"/>
            <a:ext cx="8151763" cy="759768"/>
          </a:xfrm>
          <a:prstGeom prst="roundRect">
            <a:avLst>
              <a:gd name="adj" fmla="val 2755"/>
            </a:avLst>
          </a:prstGeom>
          <a:solidFill>
            <a:srgbClr val="C3EED6"/>
          </a:solidFill>
          <a:ln/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5645" y="4037633"/>
            <a:ext cx="174427" cy="139526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949598" y="3996184"/>
            <a:ext cx="7558757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Жоден метод не є ідеальним — на практиці їх </a:t>
            </a:r>
            <a:pPr algn="l" indent="0" marL="0">
              <a:lnSpc>
                <a:spcPct val="132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комбінують</a:t>
            </a:r>
            <a:pPr algn="l" indent="0" marL="0">
              <a:lnSpc>
                <a:spcPct val="132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, враховуючи фактор часу й невизначеність наукового пошуку.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99145"/>
            <a:ext cx="695406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Інноваційно-інвестиційне планування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2525" y="1752674"/>
            <a:ext cx="3864769" cy="229373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42458" y="3421836"/>
            <a:ext cx="960688" cy="370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Збалансоване поєднання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2631728" y="3514368"/>
            <a:ext cx="960688" cy="1850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Фаза процесу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1401258" y="3421836"/>
            <a:ext cx="960688" cy="370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Оцінка джерел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6024339" y="1696492"/>
            <a:ext cx="2628230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Ключові орієнтири планування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024339" y="2281163"/>
            <a:ext cx="2628230" cy="1913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Допустима частка витрат на дослідження — зазвичай </a:t>
            </a:r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3–5% обсягу продажів</a:t>
            </a:r>
            <a:endParaRPr lang="en-US" sz="11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На ранніх стадіях частка витрат вища; з утвердженням виробництва — знижується</a:t>
            </a:r>
            <a:endParaRPr lang="en-US" sz="11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Обов'язкове врахування очікуваної віддачі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329630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Фінансова база й планування — нерозривні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708720" y="2587675"/>
            <a:ext cx="4510162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Перш ніж планувати інноваційний проєкт, потрібно усвідомлено й адресно оцінити кожне доступне джерело — за критеріями ефективності, адаптивності й здатності залучати позабюджетні ресурси.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40494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Висновки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496119" y="1466999"/>
            <a:ext cx="2622724" cy="1837506"/>
          </a:xfrm>
          <a:prstGeom prst="roundRect">
            <a:avLst>
              <a:gd name="adj" fmla="val 1157"/>
            </a:avLst>
          </a:prstGeom>
          <a:solidFill>
            <a:srgbClr val="F0EDE6"/>
          </a:solidFill>
          <a:ln/>
        </p:spPr>
      </p:sp>
      <p:sp>
        <p:nvSpPr>
          <p:cNvPr id="4" name="Shape 2"/>
          <p:cNvSpPr/>
          <p:nvPr/>
        </p:nvSpPr>
        <p:spPr>
          <a:xfrm>
            <a:off x="637877" y="1608758"/>
            <a:ext cx="425276" cy="425276"/>
          </a:xfrm>
          <a:prstGeom prst="roundRect">
            <a:avLst>
              <a:gd name="adj" fmla="val 13436988"/>
            </a:avLst>
          </a:prstGeom>
          <a:solidFill>
            <a:srgbClr val="1B5F39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54856" y="1725662"/>
            <a:ext cx="191319" cy="19131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37877" y="2175793"/>
            <a:ext cx="177924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Різноманіття джерел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37877" y="2482304"/>
            <a:ext cx="2339206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Бюджетні, власні, кредитні та іноземні кошти — кожне має свою роль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260601" y="1466999"/>
            <a:ext cx="2622724" cy="1837506"/>
          </a:xfrm>
          <a:prstGeom prst="roundRect">
            <a:avLst>
              <a:gd name="adj" fmla="val 1157"/>
            </a:avLst>
          </a:prstGeom>
          <a:solidFill>
            <a:srgbClr val="F0EDE6"/>
          </a:solidFill>
          <a:ln/>
        </p:spPr>
      </p:sp>
      <p:sp>
        <p:nvSpPr>
          <p:cNvPr id="9" name="Shape 6"/>
          <p:cNvSpPr/>
          <p:nvPr/>
        </p:nvSpPr>
        <p:spPr>
          <a:xfrm>
            <a:off x="3402360" y="1608758"/>
            <a:ext cx="425276" cy="425276"/>
          </a:xfrm>
          <a:prstGeom prst="roundRect">
            <a:avLst>
              <a:gd name="adj" fmla="val 13436988"/>
            </a:avLst>
          </a:prstGeom>
          <a:solidFill>
            <a:srgbClr val="1B5F39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19339" y="1725662"/>
            <a:ext cx="191319" cy="19131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402360" y="2175793"/>
            <a:ext cx="181696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Власні кошти — лідер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3402360" y="2482304"/>
            <a:ext cx="2339206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60–95% пріоритетних напрямів фінансуються з власних ресурсів підприємства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025083" y="1466999"/>
            <a:ext cx="2622724" cy="1837506"/>
          </a:xfrm>
          <a:prstGeom prst="roundRect">
            <a:avLst>
              <a:gd name="adj" fmla="val 1157"/>
            </a:avLst>
          </a:prstGeom>
          <a:solidFill>
            <a:srgbClr val="F0EDE6"/>
          </a:solidFill>
          <a:ln/>
        </p:spPr>
      </p:sp>
      <p:sp>
        <p:nvSpPr>
          <p:cNvPr id="14" name="Shape 10"/>
          <p:cNvSpPr/>
          <p:nvPr/>
        </p:nvSpPr>
        <p:spPr>
          <a:xfrm>
            <a:off x="6166842" y="1608758"/>
            <a:ext cx="425276" cy="425276"/>
          </a:xfrm>
          <a:prstGeom prst="roundRect">
            <a:avLst>
              <a:gd name="adj" fmla="val 13436988"/>
            </a:avLst>
          </a:prstGeom>
          <a:solidFill>
            <a:srgbClr val="1B5F39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83821" y="1725662"/>
            <a:ext cx="191319" cy="19131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166842" y="2175793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Комбінований підхід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6166842" y="2482304"/>
            <a:ext cx="2339206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Збалансоване поєднання джерел і реалістичний план — основа надійної фінансової бази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496119" y="3463975"/>
            <a:ext cx="8151763" cy="779562"/>
          </a:xfrm>
          <a:prstGeom prst="roundRect">
            <a:avLst>
              <a:gd name="adj" fmla="val 2728"/>
            </a:avLst>
          </a:prstGeom>
          <a:solidFill>
            <a:srgbClr val="B6FCB8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7877" y="3664744"/>
            <a:ext cx="177180" cy="141759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956816" y="3626941"/>
            <a:ext cx="754930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Норма бюджетних асигнувань —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не менше 3%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видаткової частини бюджету; витрати підприємства на НДДКР —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3–5% обсягу продажів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2026-06-15T14:41:52Z</dcterms:created>
  <dcterms:modified xsi:type="dcterms:W3CDTF">2026-06-15T14:41:52Z</dcterms:modified>
</cp:coreProperties>
</file>