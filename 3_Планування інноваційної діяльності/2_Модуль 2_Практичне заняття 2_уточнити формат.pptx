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6031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Вплив інфляції та фактора часу на ефективність інвестиційно-інноваційної діяльності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45058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 · Модуль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917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Тема заняття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63733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Два чинники, що викривляють оцінку інвестицій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96119" y="2735907"/>
            <a:ext cx="8151763" cy="1048420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735907"/>
            <a:ext cx="4075881" cy="10484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87766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Фактор часу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3188940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Однакова сума грошей у різні моменти часу має різну реальну цінність.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735907"/>
            <a:ext cx="4075881" cy="10484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735907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0" name="Text 8"/>
          <p:cNvSpPr/>
          <p:nvPr/>
        </p:nvSpPr>
        <p:spPr>
          <a:xfrm>
            <a:off x="4713759" y="287766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Інфляція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3759" y="3188940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Знецінення грошей змінює купівельну спроможність і спотворює номінальні показники.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2070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Вартість грошей у часі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Гроші, вкладені сьогодні, мають приносити дохід. Тому сума, отримана через кілька років, для інвестора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«дешевша»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 ту саму суму сьогодні.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7030"/>
            <a:ext cx="74313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Дисконтування: інструмент фактора часу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462088"/>
            <a:ext cx="3864769" cy="2293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2458" y="3038717"/>
            <a:ext cx="960688" cy="55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Привести до сьогоднішньої вартості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631728" y="3131249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Застосувати коефіцієнт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401258" y="3038717"/>
            <a:ext cx="960688" cy="55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Майбутні грошові потоки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3915296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Коефіцієнт дисконтування завжди менший за одиницю і зменшується з кожним роком.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24339" y="1577801"/>
            <a:ext cx="2628230" cy="1835497"/>
          </a:xfrm>
          <a:prstGeom prst="roundRect">
            <a:avLst>
              <a:gd name="adj" fmla="val 1159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1792858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5037" y="1740768"/>
            <a:ext cx="20257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 ставки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дисконтний множник: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85037" y="2321942"/>
            <a:ext cx="2025774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1-й рік: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0,833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2-й рік: ще менший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Чим далі дохід — тим більше знецінення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24339" y="3572768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Довгі проєкти ризикованіші: їхні майбутні доходи в теперішній оцінці важать менше.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67619"/>
            <a:ext cx="59115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Номінальні та реальні величини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2394124"/>
            <a:ext cx="264177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Номінальна сума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86144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 урахування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зміни купівельної вартості грошей.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394124"/>
            <a:ext cx="264177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Реальна сума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86144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 урахуванням інфляції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1B5F39"/>
                </a:highlight>
                <a:latin typeface="Lora" pitchFamily="34" charset="0"/>
                <a:ea typeface="Lora" pitchFamily="34" charset="-122"/>
                <a:cs typeface="Lora" pitchFamily="34" charset="-120"/>
              </a:rPr>
              <a:t>Sр = S / Іі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2394124"/>
            <a:ext cx="264177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Індекс інфляції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861444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Іі = 1 + темп інфляції (десятковий дріб за період).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584611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Номінальна vs Реальна відсоткова ставка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251323"/>
            <a:ext cx="36859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Якщо інфляційну складову не врахували при нарощенні суми, реальний результат виявиться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значно скромнішим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 номінальний приріст.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711750" y="2821930"/>
            <a:ext cx="3685952" cy="526554"/>
          </a:xfrm>
          <a:prstGeom prst="roundRect">
            <a:avLst>
              <a:gd name="adj" fmla="val 3155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78" y="2982516"/>
            <a:ext cx="138410" cy="1107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616" y="2927449"/>
            <a:ext cx="3215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Вкладник отримує більше грошей, але купує пропорційно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більше благ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97148"/>
            <a:ext cx="5358408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Розрахунок річного темпу інфляції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58453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Квартальні темпи інфляції: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40%, 30%, 20%, 50%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202" y="1239441"/>
            <a:ext cx="6299448" cy="2883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5702" y="3323925"/>
            <a:ext cx="1182663" cy="4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Річна інфляція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5222" y="3437837"/>
            <a:ext cx="1182664" cy="22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Річний коєф.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72843" y="3323925"/>
            <a:ext cx="1182664" cy="4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Перемножити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58061" y="3437837"/>
            <a:ext cx="1182663" cy="22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Перетворити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643" y="4231779"/>
            <a:ext cx="8100640" cy="405185"/>
          </a:xfrm>
          <a:prstGeom prst="roundRect">
            <a:avLst>
              <a:gd name="adj" fmla="val 4346"/>
            </a:avLst>
          </a:prstGeom>
          <a:solidFill>
            <a:srgbClr val="C3EE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94" y="4390058"/>
            <a:ext cx="146745" cy="117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3089" y="4348535"/>
            <a:ext cx="805904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Квартальні прирости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додаються, а перемножуються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ефект складного накопичення інфляції.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3155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Ефект складного накопичення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00969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227.6%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1959471" y="2445916"/>
            <a:ext cx="17960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Річний темп інфляції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242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Результат множення квартальних коефіцієнтів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333601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140%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1909763" y="3978548"/>
            <a:ext cx="1895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Проста сума кварталів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4285059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40+30+20+50 — значно занижує реальне знецінення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9896"/>
            <a:ext cx="74568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Як поєднати обидва чинники на практиці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64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98303"/>
            <a:ext cx="2622724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007245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Визначити реальну норму прибутку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35213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Очищену від інфляційної складової.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6764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98303"/>
            <a:ext cx="2622724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007245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Закласти темп інфляції у ставку дисконту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53521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Ставка = необхідна норма прибутку + очікувана інфляція.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6764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98303"/>
            <a:ext cx="2622724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007245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Дисконтувати реальні грошові потоки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53521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Приводити майбутні доходи до теперішнього моменту коректно.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54573"/>
            <a:ext cx="8151763" cy="779562"/>
          </a:xfrm>
          <a:prstGeom prst="roundRect">
            <a:avLst>
              <a:gd name="adj" fmla="val 2728"/>
            </a:avLst>
          </a:prstGeom>
          <a:solidFill>
            <a:srgbClr val="FFB3B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455343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41754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Для України 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високими інфляційними очікуваннями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недооцінка інфляції здатна перетворити номінально прибутковий проєкт на реально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збитковий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597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Висновки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71563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Фактор часу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119833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Враховується дисконтуванням майбутніх потоків.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71563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8133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Інфляція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119833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Розмежування номінальних і реальних величин + індекс інфляції.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083793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2255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Разом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53206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Ігнорування будь-якого чинника робить оцінку інвестицій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недостовірною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2026-06-15T14:42:42Z</dcterms:created>
  <dcterms:modified xsi:type="dcterms:W3CDTF">2026-06-15T14:42:42Z</dcterms:modified>
</cp:coreProperties>
</file>