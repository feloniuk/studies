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Методи оцінки ефективності інвестицій і інновацій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Практичне заняття — розбираємо показники економічної ефективності та застосовуємо їх до конкретного прикладу.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37680"/>
            <a:ext cx="517691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Фундаментальний принцип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708720" y="2252737"/>
            <a:ext cx="4510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Гроші, отримані сьогодні й через кілька років, мають різну цінність.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0253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Усі сучасні методи оцінки спираються на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дисконтування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приведення різночасних результатів і витрат до одного моменту часу. Без урахування фактора часу оцінка проєкту буде хибною.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0775"/>
            <a:ext cx="61567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Система показників ефективності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47280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21890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Інтегральний ефект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495550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NPV — різниця дисконтованих результатів і витрат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2047280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2189038"/>
            <a:ext cx="18750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Індекс рентабельності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495550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JR — відношення приведених доходів до витрат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3147640"/>
            <a:ext cx="18775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Норма рентабельності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454152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IRR — норма дисконту, за якої NPV =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31476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Період окупності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454152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То — кількість років для покриття інвестицій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4119"/>
            <a:ext cx="48119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Інтегральний ефект (NPV)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8725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Формула: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593479"/>
            <a:ext cx="4360143" cy="308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593479"/>
            <a:ext cx="3902943" cy="308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08163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де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результат,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витрати,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коефіцієнт дисконтування у рік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2219176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434233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0398" y="2382143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Проєкт ефективний, якщо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Еінт &gt; 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приведені доходи перевищують приведені витрати.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749701" y="3158207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Також відомий як: чистий дисконтований дохід, чиста приведена вартість, NPV.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2334"/>
            <a:ext cx="485380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Індекс рентабельності (JR)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67334"/>
            <a:ext cx="3902943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67334"/>
            <a:ext cx="3902943" cy="456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0275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Відношення приведених доходів до приведених інноваційних витрат.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0651" y="1747391"/>
            <a:ext cx="1899642" cy="11384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7660" y="1908200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JR &gt; 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967660" y="2271415"/>
            <a:ext cx="15018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Проєкт ефективний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3002" y="1747391"/>
            <a:ext cx="1899642" cy="11384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90011" y="1908200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JR &lt; 1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90011" y="2271415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Проєкт неефективний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749701" y="3045321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B6D6F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460" y="3260378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0398" y="3208288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Особливо корисний при дефіциті коштів — дозволяє ранжувати проєкти за спаданням рентабельності.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4723"/>
            <a:ext cx="848521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Норма рентабельності (IRR) та Період окупності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41227"/>
            <a:ext cx="4004965" cy="218747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2263" y="1966540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6927" y="2427312"/>
            <a:ext cx="32544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IRR — внутрішня норма прибутковості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6927" y="2733824"/>
            <a:ext cx="36833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Норма дисконту, за якої NPV = 0. Проєкт приймається, якщо Ер ≥ необхідної інвестором норми. При кредитному фінансуванні — верхня межа банківської ставки. Відбирають проєкти з IRR ≥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15–20%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1841227"/>
            <a:ext cx="4005039" cy="2187476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9061" y="1966540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803651" y="2427312"/>
            <a:ext cx="1861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То — Період окупності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4803651" y="2733824"/>
            <a:ext cx="3683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То = К / Д. Чим довший термін — тим вищий ризик. Критично важливий у галузях із високими темпами НТП, де нові технології швидко знецінюють попередні вкладення.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3735"/>
            <a:ext cx="45337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Розрахунковий приклад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Впровадження нового агрегату для заміни колісних пар на міському електротранспорті. Розрахунковий період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 років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ставка дисконту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485"/>
            <a:ext cx="5060677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Результати розрахунку NPV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11014"/>
            <a:ext cx="3990008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83 883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47205" y="1844278"/>
            <a:ext cx="208776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Дисконтовані результати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144688"/>
            <a:ext cx="39900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Сума приведених доходів за 6 років (грош. од.)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57799" y="1211014"/>
            <a:ext cx="3990082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47 262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33306" y="1844278"/>
            <a:ext cx="183906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Дисконтовані витрати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57799" y="2144688"/>
            <a:ext cx="39900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Сума приведених інноваційних витрат (грош. од.)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6119" y="2710607"/>
            <a:ext cx="3990008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36 621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18952" y="334387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Інтегральний ефект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644280"/>
            <a:ext cx="39900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Еінт = 83 883 – 47 262 (грош. од.)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57799" y="2710607"/>
            <a:ext cx="3990082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1.77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729883" y="3343870"/>
            <a:ext cx="184591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Індекс рентабельності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57799" y="3644280"/>
            <a:ext cx="39900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JR &gt; 1 — проєкт ефективний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6119" y="4020220"/>
            <a:ext cx="8151763" cy="538311"/>
          </a:xfrm>
          <a:prstGeom prst="roundRect">
            <a:avLst>
              <a:gd name="adj" fmla="val 3889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45" y="4220096"/>
            <a:ext cx="174427" cy="13952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49598" y="4178647"/>
            <a:ext cx="80159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Висновок: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Еінт &gt; 0 та JR = 1.77 &gt; 1 — проєкт є економічно ефективним.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89855"/>
            <a:ext cx="3423270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Показники у сукупності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197" y="868040"/>
            <a:ext cx="5847531" cy="36570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92987" y="2621813"/>
            <a:ext cx="1205585" cy="202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То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968899" y="4167939"/>
            <a:ext cx="1205585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IRR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145149" y="2621027"/>
            <a:ext cx="1205585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68899" y="1023046"/>
            <a:ext cx="1205585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NPV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0182" y="4611067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Жоден показник не варто застосовувати ізольовано — лише разом вони дають об'єктивну картину доцільності проєкту.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2019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Висновки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1480170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475780"/>
            <a:ext cx="21139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Дисконтування — основа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782291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Коректна оцінка неможлива без приведення різночасних грошових потоків.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523827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5194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Комплексний підхід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825948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NPV, JR, IRR і То разом забезпечують повну картину ефективності.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8250" y="3567485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563094"/>
            <a:ext cx="19136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Практичний результат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869606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Агрегат для заміни колісних пар: Еінт ≈ 36 621 грош. од., JR = 1.77 — проєкт доцільний.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2026-06-15T14:42:54Z</dcterms:created>
  <dcterms:modified xsi:type="dcterms:W3CDTF">2026-06-15T14:42:54Z</dcterms:modified>
</cp:coreProperties>
</file>