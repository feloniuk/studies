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Час менеджера та принципи його ефективного використання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 — Тема 2. Відповіді на сім ключових питань про управління особистим часом.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15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Індивідуальний фонд часу та часова перспектива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3349"/>
            <a:ext cx="23180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Структура фонду часу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36564"/>
            <a:ext cx="390294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Весь час людини поділяється на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робочий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позаробочий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Позаробочий включає: дорогу та підготовку до роботи, домашню працю, самообслуговування (сон, харчування) і власне вільний час. По суті — це час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витрачання сил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час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їх відновлення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539207"/>
            <a:ext cx="29452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Часова перспектива (К. Левін)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90242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Погляд індивіда на психологічне минуле й майбутнє, що існує в теперішньому — включення майбутнього і минулого в план поточного моменту (Б. Зейгарник).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73349"/>
            <a:ext cx="24936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Моя часова перспектива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036564"/>
            <a:ext cx="3902943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Переважає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орієнтація на майбутнє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цілі — зростання до Lead BA, завершення магістратури, плани щодо родини. Це підтримує продуктивність, але надмірна фіксація на майбутньому забирає час у дітей і відпочинку.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Свідомо прагну до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збалансованої перспективи за Зімбардо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гнучко перемикатися між роботою (майбутнє), сім'єю (позитивне минуле і теперішнє) та відновленням.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7375"/>
            <a:ext cx="47453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Внутрішні концепції часу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1388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6556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Позитивне минуле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962150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Тепла ностальгія, опора на добрий досвід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51388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6556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Негативне минуле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1962150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Травми та жаль, що гальмують розвиток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513880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655638"/>
            <a:ext cx="20091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Гедоністичне теперішнє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1962150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Задоволення тут і зараз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699296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2841054"/>
            <a:ext cx="20622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Фаталістичне теперішнє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147566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Відчуття безсилля, «від мене нічого не залежить»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699296"/>
            <a:ext cx="4004965" cy="816843"/>
          </a:xfrm>
          <a:prstGeom prst="roundRect">
            <a:avLst>
              <a:gd name="adj" fmla="val 2603"/>
            </a:avLst>
          </a:prstGeom>
          <a:solidFill>
            <a:srgbClr val="F0EDE6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28410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Майбутнє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147566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Планування, цілі, відкладена винагорода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67560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орієнтація на майбутнє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(ІТ, навчання, цілі). Більшість українців сьогодні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фаталістичне теперішнє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війна звужує горизонт планування, люди живуть «тут і зараз». В гострій кризі це доцільно, але в довгій перспективі шкодить розвитку.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4559126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Прийоми простого планування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1780208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Що використовую я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2039689"/>
            <a:ext cx="3685952" cy="100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Calendar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жорсткі задачі: дейлі, зустрічі з замовником, дзвінки</a:t>
            </a:r>
            <a:endParaRPr lang="en-US" sz="85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iPhone Tasks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гнучкі справи та дрібні задачі, щоб не тримати в голові</a:t>
            </a:r>
            <a:endParaRPr lang="en-US" sz="850" dirty="0"/>
          </a:p>
          <a:p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Ранковий огляд</a:t>
            </a:r>
            <a:pPr algn="l" marL="342900" indent="-34290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намагаюся переглядати план на день, хоча через прокрастинацію роблю це не завжди системно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711750" y="3143994"/>
            <a:ext cx="3685952" cy="684312"/>
          </a:xfrm>
          <a:prstGeom prst="roundRect">
            <a:avLst>
              <a:gd name="adj" fmla="val 2428"/>
            </a:avLst>
          </a:prstGeom>
          <a:solidFill>
            <a:srgbClr val="C3EED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478" y="3304580"/>
            <a:ext cx="138410" cy="1107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1616" y="3249513"/>
            <a:ext cx="321535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Матеріалізація завдань — виведення їх із голови на носій — є базовим принципом за Г. Архангельським та GTD Девіда Аллена.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404887"/>
            <a:ext cx="30599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Рамковий план дня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883072"/>
            <a:ext cx="718356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Спочатку вносяться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жорсткі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задачі — вони утворюють каркас. Між ними у вільні проміжки розставляються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гнучкі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задачі. План не розписує кожну хвилину, але задає структуру і лишає простір для маневру.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564782" y="1257895"/>
            <a:ext cx="14288" cy="3480643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4156807" y="1367805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6" name="Shape 4"/>
          <p:cNvSpPr/>
          <p:nvPr/>
        </p:nvSpPr>
        <p:spPr>
          <a:xfrm>
            <a:off x="4454835" y="1257895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4493828" y="1277355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50046" y="129361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07:30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0182" y="1502122"/>
            <a:ext cx="3071217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Підйом, ранок із дітьми, сніданок </a:t>
            </a:r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74729" y="1937072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11" name="Shape 9"/>
          <p:cNvSpPr/>
          <p:nvPr/>
        </p:nvSpPr>
        <p:spPr>
          <a:xfrm>
            <a:off x="4454835" y="1827163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4493828" y="1846622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92452" y="186288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2452" y="2071390"/>
            <a:ext cx="307129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Найскладніша аналітична задача — пік продуктивності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🧠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56807" y="2447776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16" name="Shape 14"/>
          <p:cNvSpPr/>
          <p:nvPr/>
        </p:nvSpPr>
        <p:spPr>
          <a:xfrm>
            <a:off x="4454835" y="2337867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4493828" y="2357326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50046" y="2373585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10:00–13:00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0182" y="2582094"/>
            <a:ext cx="3071217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Дейлі команди </a:t>
            </a:r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→ гнучкий блок: вимоги, документація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74729" y="2958480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54835" y="2848570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22" name="Text 20"/>
          <p:cNvSpPr/>
          <p:nvPr/>
        </p:nvSpPr>
        <p:spPr>
          <a:xfrm>
            <a:off x="4493828" y="2868030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92452" y="288428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14:00–16:00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92452" y="3092797"/>
            <a:ext cx="307129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Зустрічі з замовником, узгодження 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56807" y="3469184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26" name="Shape 24"/>
          <p:cNvSpPr/>
          <p:nvPr/>
        </p:nvSpPr>
        <p:spPr>
          <a:xfrm>
            <a:off x="4454835" y="3359274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27" name="Text 25"/>
          <p:cNvSpPr/>
          <p:nvPr/>
        </p:nvSpPr>
        <p:spPr>
          <a:xfrm>
            <a:off x="4493828" y="3378733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50046" y="3394993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19:30–20:00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0182" y="3603501"/>
            <a:ext cx="3071217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Тренажерний зал </a:t>
            </a:r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🔒</a:t>
            </a:r>
            <a:pPr algn="r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(3 рази на тиждень)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74729" y="3979887"/>
            <a:ext cx="312316" cy="14288"/>
          </a:xfrm>
          <a:prstGeom prst="roundRect">
            <a:avLst>
              <a:gd name="adj" fmla="val 109299"/>
            </a:avLst>
          </a:prstGeom>
          <a:solidFill>
            <a:srgbClr val="D6D3CC"/>
          </a:solidFill>
          <a:ln/>
        </p:spPr>
      </p:sp>
      <p:sp>
        <p:nvSpPr>
          <p:cNvPr id="31" name="Shape 29"/>
          <p:cNvSpPr/>
          <p:nvPr/>
        </p:nvSpPr>
        <p:spPr>
          <a:xfrm>
            <a:off x="4454835" y="3869978"/>
            <a:ext cx="234181" cy="234181"/>
          </a:xfrm>
          <a:prstGeom prst="roundRect">
            <a:avLst>
              <a:gd name="adj" fmla="val 6669"/>
            </a:avLst>
          </a:prstGeom>
          <a:solidFill>
            <a:srgbClr val="F0EDE6"/>
          </a:solidFill>
          <a:ln/>
        </p:spPr>
      </p:sp>
      <p:sp>
        <p:nvSpPr>
          <p:cNvPr id="32" name="Text 30"/>
          <p:cNvSpPr/>
          <p:nvPr/>
        </p:nvSpPr>
        <p:spPr>
          <a:xfrm>
            <a:off x="4493828" y="3889437"/>
            <a:ext cx="156121" cy="195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2452" y="3905696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21:00–23:00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92452" y="4114205"/>
            <a:ext cx="307129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Родина та читання професійної літератури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7876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Органайзер vs Хронокарта Гастєва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077343"/>
            <a:ext cx="4722763" cy="2087314"/>
          </a:xfrm>
          <a:prstGeom prst="roundRect">
            <a:avLst>
              <a:gd name="adj" fmla="val 1019"/>
            </a:avLst>
          </a:prstGeom>
          <a:solidFill>
            <a:srgbClr val="F0EDE6"/>
          </a:solidFill>
          <a:ln/>
        </p:spPr>
      </p:sp>
      <p:sp>
        <p:nvSpPr>
          <p:cNvPr id="5" name="Shape 2"/>
          <p:cNvSpPr/>
          <p:nvPr/>
        </p:nvSpPr>
        <p:spPr>
          <a:xfrm>
            <a:off x="496119" y="2077343"/>
            <a:ext cx="4722763" cy="10436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2191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Органайзер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52561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Орієнтований у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майбутнє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планує, нагадує, розставляє пріоритети. Фіксує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намір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19" y="3121000"/>
            <a:ext cx="4722763" cy="1043657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496119" y="3121000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0" name="Text 7"/>
          <p:cNvSpPr/>
          <p:nvPr/>
        </p:nvSpPr>
        <p:spPr>
          <a:xfrm>
            <a:off x="637877" y="32627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Хронокарта Гастєва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7877" y="356927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Орієнтована в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минуле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фіксує всі події дня та їх реальну тривалість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 factum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Показує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справжню картину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3371"/>
            <a:ext cx="53778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Переваги хронокарти Гастєва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3987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2714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Об'єктивний облік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7792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Показує, куди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насправді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пішов день — без ілюзій і самообману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3987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271415"/>
            <a:ext cx="20757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Виявлення «поглиначів»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57792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Наочно демонструє неефективні витрати часу та хронофаги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3987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2714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Піки продуктивності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57792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Дозволяє визначити особисті піки та оптимізувати процеси на основі реальних даних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417838"/>
            <a:ext cx="8151763" cy="552748"/>
          </a:xfrm>
          <a:prstGeom prst="roundRect">
            <a:avLst>
              <a:gd name="adj" fmla="val 3847"/>
            </a:avLst>
          </a:prstGeom>
          <a:solidFill>
            <a:srgbClr val="B6D6F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618607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58080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Для мене це особливо цінно: я схильний недооцінювати, скільки часу насправді з'їдають задачі.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337"/>
            <a:ext cx="5559772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Слабкі сторони хронокарти Гастєва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426" y="1069777"/>
            <a:ext cx="2674218" cy="12919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1679" y="120588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Трудомісткість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171679" y="1500857"/>
            <a:ext cx="234486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Постійна фіксація кожної події вимагає великої дисципліни й уваги — особливо складно при схильності до відволікань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8426" y="2466380"/>
            <a:ext cx="2674218" cy="9295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1679" y="260248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Не планує наперед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171679" y="2897460"/>
            <a:ext cx="234486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Лише реєструє минуле: не нагадає про зустріч і не розставить пріоритети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8426" y="3500586"/>
            <a:ext cx="2674218" cy="111077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1679" y="3636690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Суб'єктивність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171679" y="3931667"/>
            <a:ext cx="234486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тривалості подій спотворюється, якщо запис ведеться по пам'яті наприкінці дня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7008"/>
            <a:ext cx="75461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Власна система аналізу ефективності часу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3351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базі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Calendar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з кольоровим кодуванням подій — три показники аналізу: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19796"/>
            <a:ext cx="2622724" cy="26166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22351" y="192613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6927" y="23867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Матриця Кові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693268"/>
            <a:ext cx="23011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Частка дня у «важливому, але нетерміновому» квадраті II (стратегія, розвиток, навчання) проти часу, з'їденого телефоном, соцмережами, YouTube.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Мета — нарощувати частку квадрата II.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819796"/>
            <a:ext cx="2622724" cy="26166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6833" y="192613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21410" y="23867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Точність оцінки часу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21410" y="2693268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Для ключових задач фіксую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запланований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і </a:t>
            </a:r>
            <a:pPr algn="l" indent="0" marL="0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фактичний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час, рахую відхилення. Б'є по моїй слабкій стороні — хронічній недооцінці тривалості задач.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819796"/>
            <a:ext cx="2622724" cy="26166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316" y="1926134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185892" y="2386757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Продуктивність ранкового піку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85892" y="2914724"/>
            <a:ext cx="23011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Чи вдалося віддати найпродуктивніший ранковий слот (жайворонок) найскладнішій роботі в ізольованому середовищі, а не зустрічам чи пошті.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180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Ключові висновки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071786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0673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Знай свій фонд часу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37390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Розумій структуру та власну часову перспективу — прагни до балансу за Зімбардо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115443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1110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Плануй рамково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41756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Жорсткі задачі — каркас дня, гнучкі — заповнюють проміжки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293228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292789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Вимірюй реальність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23440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Хронокарта показує правду, органайзер — намір. Разом вони дають повну картину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78250" y="3975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39715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Аналізуй системно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278064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Три показники щотижня: матриця Кові, точність оцінки часу, використання ранкового піку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2026-06-15T14:28:53Z</dcterms:created>
  <dcterms:modified xsi:type="dcterms:W3CDTF">2026-06-15T14:28:53Z</dcterms:modified>
</cp:coreProperties>
</file>