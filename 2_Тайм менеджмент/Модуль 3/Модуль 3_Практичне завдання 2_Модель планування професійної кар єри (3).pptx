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Модель планування професійної кар'єри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Особистий кар'єрний план на основі двох урівноважених блоків: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Я-концепція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та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Збір інформації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4340200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Модель: два блоки в рівновазі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251323"/>
            <a:ext cx="36859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Ключовий принцип моделі: те, що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ти маєш і хочеш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має відповідати тому, що від тебе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вимагатимуть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і що ти реально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можеш отримати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711750" y="2821930"/>
            <a:ext cx="3685952" cy="526554"/>
          </a:xfrm>
          <a:prstGeom prst="roundRect">
            <a:avLst>
              <a:gd name="adj" fmla="val 3155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78" y="2982516"/>
            <a:ext cx="138410" cy="1107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616" y="2927449"/>
            <a:ext cx="321535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Дисбаланс між блоками — головна причина хибного кар'єрного вибору.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856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Збір інформації: перший крок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8423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Ідеї про можливі професії ми отримуємо від батьків, друзів, ЗМІ, власних спостережень. Далі — збираємо конкретну інформацію про місця працевлаштування, умови роботи та перспективи.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724150"/>
            <a:ext cx="4722763" cy="1633686"/>
          </a:xfrm>
          <a:prstGeom prst="roundRect">
            <a:avLst>
              <a:gd name="adj" fmla="val 1302"/>
            </a:avLst>
          </a:prstGeom>
          <a:solidFill>
            <a:srgbClr val="F0EDE6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724150"/>
            <a:ext cx="4722763" cy="816843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8659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Вимоги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3172420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Освіта, навички, досвід, особисті якості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540993"/>
            <a:ext cx="4722763" cy="816843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3540993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6827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Винагороди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98926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Статус, дохід, незалежність, зростання, задоволеність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5935"/>
            <a:ext cx="991270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98425"/>
            <a:ext cx="127835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Я-КОНЦЕПЦІЯ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7904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Інтереси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94098"/>
            <a:ext cx="5177582" cy="2933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2089993"/>
            <a:ext cx="2628230" cy="19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Мені цікаво розбиратися в тому, як влаштовані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бізнес-процеси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перекладати потреби людей на мову зрозумілих вимог і знаходити рішення, які реально працюють.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Подобається робота на стику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людей і систем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комунікація, аналітика, узгодження інтересів.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09749"/>
            <a:ext cx="991270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52240"/>
            <a:ext cx="127835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Я-КОНЦЕПЦІЯ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32855"/>
            <a:ext cx="40118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Здібності та Цінності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88443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199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Здібності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026494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Структурне мислення, збір і формалізація вимог, спокій у переговорах, англійська для міжнародних замовників.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88443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7199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Цінності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02649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Змістовність роботи, вплив на результат, професійне зростання, баланс між роботою і родиною.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88443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7199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Пріоритети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02649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Гроші й статус важливі, але як підтвердження компетентності — не самоціль.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29220"/>
            <a:ext cx="850255" cy="177850"/>
          </a:xfrm>
          <a:prstGeom prst="roundRect">
            <a:avLst>
              <a:gd name="adj" fmla="val 7025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460400"/>
            <a:ext cx="118258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ЗБІР ІНФОРМАЦІЇ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37580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Напрями розвитку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163538"/>
            <a:ext cx="3464793" cy="3464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638" y="2317552"/>
            <a:ext cx="346479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Ідеї беру з власних спостережень, спілкування з колегами й галузевих спільнот аналітиків.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703638" y="2692375"/>
            <a:ext cx="1694185" cy="764753"/>
          </a:xfrm>
          <a:prstGeom prst="roundRect">
            <a:avLst>
              <a:gd name="adj" fmla="val 2042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2031" y="281076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Вглиб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22031" y="3049860"/>
            <a:ext cx="145739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Lead / системний аналітик, архітектура рішень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74247" y="2692375"/>
            <a:ext cx="1694185" cy="764753"/>
          </a:xfrm>
          <a:prstGeom prst="roundRect">
            <a:avLst>
              <a:gd name="adj" fmla="val 2042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92639" y="281076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Вбік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92639" y="3049860"/>
            <a:ext cx="145739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Продакт-, проджект-менеджмент, консалтинг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47130"/>
            <a:ext cx="1158255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489621"/>
            <a:ext cx="14453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ЗБІР ІНФОРМАЦІЇ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770236"/>
            <a:ext cx="41942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Вимоги та Винагороди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425824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5675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Компетенції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87409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Сертифікація IIBA або аналогічна, досвід менторингу, ширша технічна й доменна експертиза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425824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3402360" y="25675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Soft Skills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2360" y="287409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Зрілі навички комунікації, ведення складних проєктів, лідерство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425824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166842" y="2567583"/>
            <a:ext cx="18403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Очікувані винагороди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6842" y="287409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Вищий дохід, самостійність у рішеннях, цікавіші завдання, вплив на продукт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2240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Урівноваження блоків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620143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Зіставивши обидва блоки, бачу: мої інтереси, здібності й цінності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загалом відповідають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вимогам бажаних ролей.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24339" y="2686869"/>
            <a:ext cx="2628230" cy="1460004"/>
          </a:xfrm>
          <a:prstGeom prst="roundRect">
            <a:avLst>
              <a:gd name="adj" fmla="val 1457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2901925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7" y="2849835"/>
            <a:ext cx="20257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Головний розрив — відсутність формального підтвердження компетенцій і досвіду керівництва іншими.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6774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Конкретні цілі кар'єрного плану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663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188220"/>
            <a:ext cx="2290465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22971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Сертифікація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603674"/>
            <a:ext cx="22904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Пройти профільну сертифікацію IIBA або аналогічну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8342" y="19663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2188220"/>
            <a:ext cx="2290539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2928342" y="22971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Менторство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28342" y="2603674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Узяти менторство молодших аналітиків у команді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30532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527227"/>
            <a:ext cx="4722763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636169"/>
            <a:ext cx="17863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Індивідуальний план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6119" y="394268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Обговорити з менеджером план зростання до ролі Lead BA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050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Висновок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8720" y="1936477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«Що я хочу» і «що від мене потрібно» сходяться — кар'єрний план стає реалістичним.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82230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637877" y="2623989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2740893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31910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Ясність мети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3497535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Роль Lead BA як чіткий орієнтир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2482230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3402360" y="2623989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740893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2360" y="31910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Реалістичність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2360" y="349753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Кроки підтверджені аналізом обох блоків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2482230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5" name="Shape 11"/>
          <p:cNvSpPr/>
          <p:nvPr/>
        </p:nvSpPr>
        <p:spPr>
          <a:xfrm>
            <a:off x="6166842" y="2623989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2740893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6842" y="31910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Зростання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66842" y="349753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Розрив між «є» і «потрібно» — керований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2026-06-15T14:31:04Z</dcterms:created>
  <dcterms:modified xsi:type="dcterms:W3CDTF">2026-06-15T14:31:04Z</dcterms:modified>
</cp:coreProperties>
</file>