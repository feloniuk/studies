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Alice"/>
      <p:regular r:id="rId201314"/>
    </p:embeddedFont>
    <p:embeddedFont>
      <p:font typeface="Lora"/>
      <p:regular r:id="rId201315"/>
    </p:embeddedFont>
    <p:embeddedFont>
      <p:font typeface="Lora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68220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Хронометраж особистого часу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780779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Лабораторна робота на основі тижневого самоспостереження: виявлення поглиначів часу та шляхи підвищення ефективності навчального й особистого часу.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41537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Мета та завдання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068041"/>
            <a:ext cx="2622724" cy="17338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01180" y="2166789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56927" y="265412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Виявити хронофаги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56927" y="2960638"/>
            <a:ext cx="23011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Зафіксувати основні витрати часу та встановити причини поглиначів.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0601" y="2068041"/>
            <a:ext cx="2622724" cy="17338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65662" y="2166789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3421410" y="265412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Описати недоліки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421410" y="2960638"/>
            <a:ext cx="23011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Визначити системні проблеми у плануванні власного часу.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25083" y="2068041"/>
            <a:ext cx="2622724" cy="17338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230145" y="2166789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6185892" y="265412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Розробити заходи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185892" y="2960638"/>
            <a:ext cx="23011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Сформулювати рекомендації щодо усунення нераціональних витрат.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666899"/>
            <a:ext cx="437219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Що таке хронометраж?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322487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Хронометраж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метод фіксації й вимірювання тривалості виконуваних дій. Дозволяє провести «аудит» часу та виявити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хронофаги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поглиначів часу, що відволікають від основної діяльності.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2389212"/>
            <a:ext cx="4722763" cy="2087314"/>
          </a:xfrm>
          <a:prstGeom prst="roundRect">
            <a:avLst>
              <a:gd name="adj" fmla="val 1019"/>
            </a:avLst>
          </a:prstGeom>
          <a:solidFill>
            <a:srgbClr val="F0EDE6"/>
          </a:solidFill>
          <a:ln/>
        </p:spPr>
      </p:sp>
      <p:sp>
        <p:nvSpPr>
          <p:cNvPr id="6" name="Shape 3"/>
          <p:cNvSpPr/>
          <p:nvPr/>
        </p:nvSpPr>
        <p:spPr>
          <a:xfrm>
            <a:off x="496119" y="2389212"/>
            <a:ext cx="4722763" cy="1043657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7" name="Text 4"/>
          <p:cNvSpPr/>
          <p:nvPr/>
        </p:nvSpPr>
        <p:spPr>
          <a:xfrm>
            <a:off x="637877" y="253097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Живі хронофаги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7877" y="2837483"/>
            <a:ext cx="44392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Колеги з дозвільними розмовами, друзі з беззмістовними дзвінками.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96119" y="3432870"/>
            <a:ext cx="4722763" cy="1043657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10" name="Shape 7"/>
          <p:cNvSpPr/>
          <p:nvPr/>
        </p:nvSpPr>
        <p:spPr>
          <a:xfrm>
            <a:off x="496119" y="3432870"/>
            <a:ext cx="4722763" cy="19050"/>
          </a:xfrm>
          <a:prstGeom prst="roundRect">
            <a:avLst>
              <a:gd name="adj" fmla="val 111628"/>
            </a:avLst>
          </a:prstGeom>
          <a:solidFill>
            <a:srgbClr val="D6D3CC"/>
          </a:solidFill>
          <a:ln/>
        </p:spPr>
      </p:sp>
      <p:sp>
        <p:nvSpPr>
          <p:cNvPr id="11" name="Text 8"/>
          <p:cNvSpPr/>
          <p:nvPr/>
        </p:nvSpPr>
        <p:spPr>
          <a:xfrm>
            <a:off x="637877" y="357462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Неживі хронофаги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37877" y="3881140"/>
            <a:ext cx="44392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Комп'ютерні ігри, телевізор, соцмережі, безсистемний перегляд відео.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3311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Хронокарта Гастєва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56445"/>
            <a:ext cx="3902943" cy="1488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Головний інструмент обліку часу —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хронокарта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запропонована О.К. Гастєвим у 1920-х роках. Таблиця фіксує події та їхню тривалість.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К.Х. Кекчеєв рекомендував вести записи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3–4 тижні підряд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але на практиці максимальний задовільний строк —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один тиждень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3204344"/>
            <a:ext cx="3902943" cy="1006376"/>
          </a:xfrm>
          <a:prstGeom prst="roundRect">
            <a:avLst>
              <a:gd name="adj" fmla="val 2113"/>
            </a:avLst>
          </a:prstGeom>
          <a:solidFill>
            <a:srgbClr val="B6D6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3419401"/>
            <a:ext cx="177180" cy="1417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6816" y="3367311"/>
            <a:ext cx="330048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Хронокарту слід завжди носити із собою та заповнювати щопівгодини — одразу, не заднім числом.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749701" y="1588368"/>
            <a:ext cx="1880592" cy="504974"/>
          </a:xfrm>
          <a:prstGeom prst="roundRect">
            <a:avLst>
              <a:gd name="adj" fmla="val 4211"/>
            </a:avLst>
          </a:prstGeom>
          <a:solidFill>
            <a:srgbClr val="F0EDE6"/>
          </a:solidFill>
          <a:ln/>
        </p:spPr>
      </p:sp>
      <p:sp>
        <p:nvSpPr>
          <p:cNvPr id="8" name="Text 5"/>
          <p:cNvSpPr/>
          <p:nvPr/>
        </p:nvSpPr>
        <p:spPr>
          <a:xfrm>
            <a:off x="4891460" y="1730127"/>
            <a:ext cx="15970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Сон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772052" y="1588368"/>
            <a:ext cx="1880592" cy="504974"/>
          </a:xfrm>
          <a:prstGeom prst="roundRect">
            <a:avLst>
              <a:gd name="adj" fmla="val 4211"/>
            </a:avLst>
          </a:prstGeom>
          <a:solidFill>
            <a:srgbClr val="F0EDE6"/>
          </a:solidFill>
          <a:ln/>
        </p:spPr>
      </p:sp>
      <p:sp>
        <p:nvSpPr>
          <p:cNvPr id="10" name="Text 7"/>
          <p:cNvSpPr/>
          <p:nvPr/>
        </p:nvSpPr>
        <p:spPr>
          <a:xfrm>
            <a:off x="6913811" y="1730127"/>
            <a:ext cx="15970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Прийом їжі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749701" y="2235101"/>
            <a:ext cx="1880592" cy="504974"/>
          </a:xfrm>
          <a:prstGeom prst="roundRect">
            <a:avLst>
              <a:gd name="adj" fmla="val 4211"/>
            </a:avLst>
          </a:prstGeom>
          <a:solidFill>
            <a:srgbClr val="F0EDE6"/>
          </a:solidFill>
          <a:ln/>
        </p:spPr>
      </p:sp>
      <p:sp>
        <p:nvSpPr>
          <p:cNvPr id="12" name="Text 9"/>
          <p:cNvSpPr/>
          <p:nvPr/>
        </p:nvSpPr>
        <p:spPr>
          <a:xfrm>
            <a:off x="4891460" y="2376860"/>
            <a:ext cx="15970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Робота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772052" y="2235101"/>
            <a:ext cx="1880592" cy="504974"/>
          </a:xfrm>
          <a:prstGeom prst="roundRect">
            <a:avLst>
              <a:gd name="adj" fmla="val 4211"/>
            </a:avLst>
          </a:prstGeom>
          <a:solidFill>
            <a:srgbClr val="F0EDE6"/>
          </a:solidFill>
          <a:ln/>
        </p:spPr>
      </p:sp>
      <p:sp>
        <p:nvSpPr>
          <p:cNvPr id="14" name="Text 11"/>
          <p:cNvSpPr/>
          <p:nvPr/>
        </p:nvSpPr>
        <p:spPr>
          <a:xfrm>
            <a:off x="6913811" y="2376860"/>
            <a:ext cx="15970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Відпочинок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4749701" y="2881833"/>
            <a:ext cx="3902943" cy="504974"/>
          </a:xfrm>
          <a:prstGeom prst="roundRect">
            <a:avLst>
              <a:gd name="adj" fmla="val 4211"/>
            </a:avLst>
          </a:prstGeom>
          <a:solidFill>
            <a:srgbClr val="F0EDE6"/>
          </a:solidFill>
          <a:ln/>
        </p:spPr>
      </p:sp>
      <p:sp>
        <p:nvSpPr>
          <p:cNvPr id="16" name="Text 13"/>
          <p:cNvSpPr/>
          <p:nvPr/>
        </p:nvSpPr>
        <p:spPr>
          <a:xfrm>
            <a:off x="4891460" y="3023592"/>
            <a:ext cx="177976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Самообслуговування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73969"/>
            <a:ext cx="427300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Методи хронометражу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000473"/>
            <a:ext cx="1507480" cy="9316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310931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Хронокарта Гастєва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415829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Таблиця з кодами категорій (А, Гр, Д, В-с). Записи кожні 30 хвилин.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433" y="2000473"/>
            <a:ext cx="1507480" cy="9316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310931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Метод Кожевнікової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3415829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Тижнева хронокарта з кольоровим кодуванням категорій по годинах.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47" y="2000473"/>
            <a:ext cx="1507480" cy="93166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310931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Метод Вернікової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3415829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Протокол із кодами: З, БС, Р, ДЦ, КЦ, П, Д — для оцінки кожної дії.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84473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Хід роботи: етапи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10978"/>
            <a:ext cx="8151763" cy="22348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78791" y="2318555"/>
            <a:ext cx="1231850" cy="220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Підготовка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478791" y="2601857"/>
            <a:ext cx="1231850" cy="352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Ознайомлення з теорією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141353" y="2159749"/>
            <a:ext cx="1231850" cy="441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Самоспостереження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141353" y="2663615"/>
            <a:ext cx="1231850" cy="352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7 днів заповнення хронокарт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835284" y="2318555"/>
            <a:ext cx="1231850" cy="220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Обробка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835284" y="2601857"/>
            <a:ext cx="1231850" cy="529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Зведення даних у таблиці та графіки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513530" y="1983298"/>
            <a:ext cx="1231849" cy="441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Аналіз і рекомендації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513530" y="2487164"/>
            <a:ext cx="1231849" cy="529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Виявлення поглиначів часу й висновки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96119" y="3905324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Студенти заповнюють сім бланків хронокарт, зводять дані у таблиці та хронограми, виявляють поглиначів часу й формулюють рекомендації. Результати презентуються на лабораторному занятті.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70008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Мій середньодобовий бюджет часу</a:t>
            </a:r>
            <a:endParaRPr lang="en-US" sz="2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19" y="1798662"/>
            <a:ext cx="4722763" cy="26446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55861"/>
            <a:ext cx="458130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Виявлені поглиначі часу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7069" y="1782366"/>
            <a:ext cx="4024015" cy="10817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4077" y="1943174"/>
            <a:ext cx="223100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Соцмережі та месенджери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14077" y="2249686"/>
            <a:ext cx="36261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«Хвилинка» перетворювалась на 20–30 хв., руйнуючи концентрацію всередині робочого блоку.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3792" y="1782366"/>
            <a:ext cx="4024089" cy="108175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60801" y="1943174"/>
            <a:ext cx="241875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Сповіщення та перемикання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860801" y="2249686"/>
            <a:ext cx="362627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Кожне перемикання між задачами «коштує» кілька хвилин на повернення до роботи.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7069" y="3005882"/>
            <a:ext cx="4024015" cy="108175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4077" y="316669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Затягнуті наради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714077" y="3473202"/>
            <a:ext cx="36261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Присутність на нарадах, де участь була необов'язковою.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23792" y="3005882"/>
            <a:ext cx="4024089" cy="108175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860801" y="3166690"/>
            <a:ext cx="246638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Безсистемний перегляд відео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860801" y="3473202"/>
            <a:ext cx="362627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Вечірній «екран для розслаблення» легко з'їдав годину й більше.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42280"/>
            <a:ext cx="566350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Рекомендації щодо оптимізації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397868"/>
            <a:ext cx="4107135" cy="3003352"/>
          </a:xfrm>
          <a:prstGeom prst="roundRect">
            <a:avLst>
              <a:gd name="adj" fmla="val 708"/>
            </a:avLst>
          </a:prstGeom>
          <a:solidFill>
            <a:srgbClr val="1B5F39"/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153962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Захищений час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1902842"/>
            <a:ext cx="382361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1,5–2 год. «непорушного» блоку вранці — сповіщення вимкнені, месенджери закриті.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5781" y="249822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Пріоритети тижня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35781" y="2861444"/>
            <a:ext cx="382361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2–3 ключові задачі за принципом Парето — починати день саме з них.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49701" y="1539627"/>
            <a:ext cx="26131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Блокова перевірка пошти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49701" y="1902842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Месенджери й пошту — двічі-тричі на день, а не безперервно.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49701" y="249822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Чіткий кінець дня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49701" y="286144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Фіксований час завершення роботи; вечірній сімейний час — без робочих чатів.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49701" y="3456831"/>
            <a:ext cx="266930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Саморозвиток у календарі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749701" y="3820046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Час на навчання вноситься як окрема зустріч, а не «за залишковим принципом».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940743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Висновки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708720" y="1755800"/>
            <a:ext cx="49673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«Проблема не в браку годин, а в тому, як вони витрачаються.»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2301553"/>
            <a:ext cx="318939" cy="318939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</p:sp>
      <p:sp>
        <p:nvSpPr>
          <p:cNvPr id="6" name="Text 3"/>
          <p:cNvSpPr/>
          <p:nvPr/>
        </p:nvSpPr>
        <p:spPr>
          <a:xfrm>
            <a:off x="956816" y="2350219"/>
            <a:ext cx="182418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Поглиначі — керовані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956816" y="2656731"/>
            <a:ext cx="42620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Більшість втрат часу можна скоротити простими правилами, без героїчних зусиль.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96119" y="3393877"/>
            <a:ext cx="318939" cy="318939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</p:sp>
      <p:sp>
        <p:nvSpPr>
          <p:cNvPr id="9" name="Text 6"/>
          <p:cNvSpPr/>
          <p:nvPr/>
        </p:nvSpPr>
        <p:spPr>
          <a:xfrm>
            <a:off x="956816" y="3442543"/>
            <a:ext cx="320315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Хронокарта — регулярний інструмент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56816" y="3749055"/>
            <a:ext cx="42620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Саме систематична фіксація робить хронофаги видимими й змушує з ними працювати.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2026-06-15T14:32:30Z</dcterms:created>
  <dcterms:modified xsi:type="dcterms:W3CDTF">2026-06-15T14:32:30Z</dcterms:modified>
</cp:coreProperties>
</file>