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Alice"/>
      <p:regular r:id="rId201314"/>
    </p:embeddedFont>
    <p:embeddedFont>
      <p:font typeface="Lora"/>
      <p:regular r:id="rId201315"/>
    </p:embeddedFont>
    <p:embeddedFont>
      <p:font typeface="Lora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Принцип Парето в управлінні часом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Як 20% зусиль дають 80% результату — на прикладі роботи бізнес-аналітика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7488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Суть закону Парето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32545"/>
            <a:ext cx="5177582" cy="29339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1733550"/>
            <a:ext cx="262823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Лише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20% ваших дій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призводять до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80% результатів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Решта 80% зусиль дають лише скромні 20% досягнень.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024339" y="2573462"/>
            <a:ext cx="2628230" cy="1460004"/>
          </a:xfrm>
          <a:prstGeom prst="roundRect">
            <a:avLst>
              <a:gd name="adj" fmla="val 1457"/>
            </a:avLst>
          </a:prstGeom>
          <a:solidFill>
            <a:srgbClr val="B6D6F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6098" y="2788518"/>
            <a:ext cx="177180" cy="1417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85037" y="2736428"/>
            <a:ext cx="2025774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На практиці пропорція може коливатися: іноді 10% або 35% зусиль дають більшу частину результату. Суть закону при цьому незмінна.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12938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Практичне завдання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784970"/>
            <a:ext cx="2290465" cy="1270471"/>
          </a:xfrm>
          <a:prstGeom prst="roundRect">
            <a:avLst>
              <a:gd name="adj" fmla="val 1674"/>
            </a:avLst>
          </a:prstGeom>
          <a:solidFill>
            <a:srgbClr val="F0EDE6"/>
          </a:solidFill>
          <a:ln/>
        </p:spPr>
      </p:sp>
      <p:sp>
        <p:nvSpPr>
          <p:cNvPr id="5" name="Text 2"/>
          <p:cNvSpPr/>
          <p:nvPr/>
        </p:nvSpPr>
        <p:spPr>
          <a:xfrm>
            <a:off x="637877" y="192672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Умови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37877" y="2233240"/>
            <a:ext cx="20069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Визначити найсприятливіші умови для продуктивної роботи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1784970"/>
            <a:ext cx="2290539" cy="1270471"/>
          </a:xfrm>
          <a:prstGeom prst="roundRect">
            <a:avLst>
              <a:gd name="adj" fmla="val 1674"/>
            </a:avLst>
          </a:prstGeom>
          <a:solidFill>
            <a:srgbClr val="F0EDE6"/>
          </a:solidFill>
          <a:ln/>
        </p:spPr>
      </p:sp>
      <p:sp>
        <p:nvSpPr>
          <p:cNvPr id="8" name="Text 5"/>
          <p:cNvSpPr/>
          <p:nvPr/>
        </p:nvSpPr>
        <p:spPr>
          <a:xfrm>
            <a:off x="3070101" y="192672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Ресурси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70101" y="2233240"/>
            <a:ext cx="20070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Обрати необхідні ресурси для досягнення результату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3197200"/>
            <a:ext cx="4722763" cy="816843"/>
          </a:xfrm>
          <a:prstGeom prst="roundRect">
            <a:avLst>
              <a:gd name="adj" fmla="val 2603"/>
            </a:avLst>
          </a:prstGeom>
          <a:solidFill>
            <a:srgbClr val="F0EDE6"/>
          </a:solidFill>
          <a:ln/>
        </p:spPr>
      </p:sp>
      <p:sp>
        <p:nvSpPr>
          <p:cNvPr id="11" name="Text 8"/>
          <p:cNvSpPr/>
          <p:nvPr/>
        </p:nvSpPr>
        <p:spPr>
          <a:xfrm>
            <a:off x="637877" y="333895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Способи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37877" y="3645471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Визначити конкретні дії, що приносять більшу частину успіху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7488"/>
            <a:ext cx="689840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Мій контекст: робота бізнес-аналітика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55564"/>
            <a:ext cx="2628230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Аналізуючи власний робочий тиждень, переконуюся: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левову частку цінності дає вузький набір дій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а решта часу — активність, що створює видимість зайнятості, але мало впливає на результат проєкту.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08720" y="3303463"/>
            <a:ext cx="2415629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Співвідношення «зусилля – результат» у роботі бізнес-аналітика видно особливо чітко.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988" y="1432545"/>
            <a:ext cx="5177582" cy="29339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929729"/>
            <a:ext cx="2028081" cy="266402"/>
          </a:xfrm>
          <a:prstGeom prst="roundRect">
            <a:avLst>
              <a:gd name="adj" fmla="val 6386"/>
            </a:avLst>
          </a:prstGeom>
          <a:solidFill>
            <a:srgbClr val="D7F4E4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972220"/>
            <a:ext cx="231517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20% ЗУСИЛЬ → 80% РЕЗУЛЬТАТУ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252835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Продуктивні дії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7069" y="1908423"/>
            <a:ext cx="4024015" cy="10817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4077" y="2069232"/>
            <a:ext cx="25146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Якісні інтерв'ю із замовником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14077" y="2375743"/>
            <a:ext cx="36261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Чітко зафіксовані вимоги економлять тижні переробок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3792" y="1908423"/>
            <a:ext cx="4024089" cy="108175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60801" y="206923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Воркшоп з бізнесом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860801" y="2375743"/>
            <a:ext cx="362627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Один підготовлений воркшоп узгоджує обсяг і пріоритети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7069" y="3131939"/>
            <a:ext cx="4024015" cy="108175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14077" y="3292748"/>
            <a:ext cx="342349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Своєчасне узгодження спірних моментів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714077" y="3599259"/>
            <a:ext cx="36261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Кілька правильних розмов знімають конфлікти до «вибуху»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23792" y="3131939"/>
            <a:ext cx="4024089" cy="108175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860801" y="3292748"/>
            <a:ext cx="189011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Глибока робота вранці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4860801" y="3599259"/>
            <a:ext cx="362627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Нічим не перервана робота над документом вимог у першій половині дня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9352"/>
            <a:ext cx="2037606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1B5F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936" y="456605"/>
            <a:ext cx="231517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80% ЗУСИЛЬ → 20% РЕЗУЛЬТАТУ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41983"/>
            <a:ext cx="431162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Дії з низькою віддачею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557040"/>
            <a:ext cx="354360" cy="35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7658" y="155704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Пошта й листування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27658" y="1920255"/>
            <a:ext cx="209669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Безкінечне сортування та відповіді на повідомлення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657401"/>
            <a:ext cx="354360" cy="354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7658" y="2657401"/>
            <a:ext cx="177938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Необов'язкові наради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027658" y="3020616"/>
            <a:ext cx="209669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Участь у зустрічах, де присутність некритична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757761"/>
            <a:ext cx="354360" cy="3543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7658" y="375776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Месенджери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1027658" y="4120976"/>
            <a:ext cx="209669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Постійне перемикання між задачами через сповіщення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988" y="1598861"/>
            <a:ext cx="5177582" cy="29339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94568"/>
            <a:ext cx="790016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Стратегія: як спиратися на продуктивні 20%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8100" y="1321073"/>
            <a:ext cx="4787801" cy="28415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10481" y="3388896"/>
            <a:ext cx="1190138" cy="458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Групувати/делегувати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010581" y="3388896"/>
            <a:ext cx="1190138" cy="458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2–3 пріоритети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486226" y="3388896"/>
            <a:ext cx="1190138" cy="458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Захистити ранок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96119" y="432211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Свідоме планування дозволяє зосередити найкращий час і увагу саме на тих діях, що рухають проєкт вперед.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975792"/>
            <a:ext cx="406070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Три правила для себе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631379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1853282"/>
            <a:ext cx="2290465" cy="1905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6" name="Text 3"/>
          <p:cNvSpPr/>
          <p:nvPr/>
        </p:nvSpPr>
        <p:spPr>
          <a:xfrm>
            <a:off x="3925119" y="1962224"/>
            <a:ext cx="19844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Ранок — захищений час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925119" y="2268736"/>
            <a:ext cx="229046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Підготовка до інтерв'ю та написання вимог — лише до обіду, без нарад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357342" y="1631379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57342" y="1853282"/>
            <a:ext cx="2290539" cy="1905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0" name="Text 7"/>
          <p:cNvSpPr/>
          <p:nvPr/>
        </p:nvSpPr>
        <p:spPr>
          <a:xfrm>
            <a:off x="6357342" y="1962224"/>
            <a:ext cx="2290539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2–3 ключові задачі на тиждень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357342" y="2490192"/>
            <a:ext cx="229053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Ті, що реально рухають проєкт, не губляться серед дрібниць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925119" y="3197200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925119" y="3419103"/>
            <a:ext cx="4722763" cy="1905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4" name="Text 11"/>
          <p:cNvSpPr/>
          <p:nvPr/>
        </p:nvSpPr>
        <p:spPr>
          <a:xfrm>
            <a:off x="3925119" y="3528045"/>
            <a:ext cx="285303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Рутина — блоками або делегована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3925119" y="3834557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Пошта двічі на день, а не безперервно; дрібні задачі — спрощувати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5886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Результат у цифрах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923776" y="2306762"/>
            <a:ext cx="1743670" cy="354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20%</a:t>
            </a:r>
            <a:endParaRPr lang="en-US" sz="2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458" y="1420788"/>
            <a:ext cx="2126456" cy="2126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9637" y="372442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Ключових дій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4030935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Дають близько 80% цінності проєкту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700090" y="2306762"/>
            <a:ext cx="1743670" cy="354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80%</a:t>
            </a:r>
            <a:endParaRPr lang="en-US" sz="2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8772" y="1420788"/>
            <a:ext cx="2126456" cy="2126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85952" y="372442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Рутинних дій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272433" y="4030935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Дають лише ~20% кінцевого результату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476405" y="2306762"/>
            <a:ext cx="1743670" cy="354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1/5</a:t>
            </a:r>
            <a:endParaRPr lang="en-US" sz="27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086" y="1420788"/>
            <a:ext cx="2126456" cy="2126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62266" y="372442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Часу вранці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048747" y="4030935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Захищений блок концентрації — найцінніший ресурс дня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437680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Висновок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708720" y="2252737"/>
            <a:ext cx="451016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Сенс принципу Парето — не в тому, щоб працювати менше, а в тому, щоб вчасно впізнавати ті 20% дій, які дають головний результат, і віддавати їм найкращий час та увагу.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96119" y="3252118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Решта справ або робляться швидше «по залишковому принципу», або взагалі відпадають як зайві.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2026-06-15T14:30:03Z</dcterms:created>
  <dcterms:modified xsi:type="dcterms:W3CDTF">2026-06-15T14:30:03Z</dcterms:modified>
</cp:coreProperties>
</file>