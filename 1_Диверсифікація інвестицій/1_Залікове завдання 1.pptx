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Platypi Medium"/>
      <p:regular r:id="rId201314"/>
    </p:embeddedFont>
    <p:embeddedFont>
      <p:font typeface="Platypi Bold"/>
      <p:regular r:id="rId201315"/>
    </p:embeddedFont>
    <p:embeddedFont>
      <p:font typeface="Source Serif 4"/>
      <p:regular r:id="rId201316"/>
    </p:embeddedFont>
    <p:embeddedFont>
      <p:font typeface="Source Serif 4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892722"/>
            <a:ext cx="4722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Міжнародна інвестиційна стратегія Nestlé S.A.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925119" y="2853854"/>
            <a:ext cx="4722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Аналіз транснаціональної корпорації як класичного прикладу глобального інвестування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688009"/>
            <a:ext cx="35583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Чому Nestlé?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2323579"/>
            <a:ext cx="8151763" cy="1131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050"/>
              </a:spcAft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Nestlé — найбільший у світі виробник продуктів харчування та напоїв, заснований у другій половині ХІХ століття. Штаб-квартира розташована у швейцарському місті Веве.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Компанія працює у понад 150 країнах. Портфель брендів охоплює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Nescafé, Nespresso, Maggi, KitKat, Purina, Gerber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. Абсолютна більшість продажів і активів припадає на закордонні ринки — міжнародне інвестування є не доповненням, а самим способом існування бізнесу.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17960"/>
            <a:ext cx="3823618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Сутність і цілі стратегії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2053530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Міжнародна інвестиційна стратегія Nestlé — це глобальна алокація виробничих і фінансових активів задля досягнення довгострокових цілей розвитку.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2589981"/>
            <a:ext cx="1944960" cy="1135559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4380" y="2728243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Нові ринки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380" y="2996505"/>
            <a:ext cx="1668438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Азія, Африка, Латинська Америка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565053" y="2589981"/>
            <a:ext cx="1944960" cy="1135559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03314" y="2728243"/>
            <a:ext cx="1668438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Близькість до споживача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03314" y="3190354"/>
            <a:ext cx="1668438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Виробництво там, де продаємо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33987" y="2589981"/>
            <a:ext cx="1944960" cy="1135559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2248" y="2728243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Доступ до ресурсів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72248" y="2996505"/>
            <a:ext cx="166843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Сировина та технології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702921" y="2589981"/>
            <a:ext cx="1944960" cy="1135559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41182" y="2728243"/>
            <a:ext cx="166791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Вища додана вартість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41182" y="2996505"/>
            <a:ext cx="1668438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Кава, преміальна вода, дитяче харчування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701552"/>
            <a:ext cx="5212854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Стратегії прямого інвестування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96119" y="2337122"/>
            <a:ext cx="279053" cy="279053"/>
          </a:xfrm>
          <a:prstGeom prst="roundRect">
            <a:avLst>
              <a:gd name="adj" fmla="val 6668"/>
            </a:avLst>
          </a:prstGeom>
          <a:solidFill>
            <a:srgbClr val="F9F7F7"/>
          </a:solidFill>
          <a:ln/>
        </p:spPr>
      </p:sp>
      <p:sp>
        <p:nvSpPr>
          <p:cNvPr id="4" name="Text 2"/>
          <p:cNvSpPr/>
          <p:nvPr/>
        </p:nvSpPr>
        <p:spPr>
          <a:xfrm>
            <a:off x="542627" y="2360377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1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899145" y="2379762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Greenfield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99145" y="2648024"/>
            <a:ext cx="2210842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Будівництво підприємств «з нуля» — дозволяє одразу закласти потрібні потужності й технології на нових ринках.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64991" y="2337122"/>
            <a:ext cx="279053" cy="279053"/>
          </a:xfrm>
          <a:prstGeom prst="roundRect">
            <a:avLst>
              <a:gd name="adj" fmla="val 6668"/>
            </a:avLst>
          </a:prstGeom>
          <a:solidFill>
            <a:srgbClr val="F9F7F7"/>
          </a:solidFill>
          <a:ln/>
        </p:spPr>
      </p:sp>
      <p:sp>
        <p:nvSpPr>
          <p:cNvPr id="8" name="Text 6"/>
          <p:cNvSpPr/>
          <p:nvPr/>
        </p:nvSpPr>
        <p:spPr>
          <a:xfrm>
            <a:off x="3311500" y="2360377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2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668018" y="2379762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Brownfield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68018" y="2648024"/>
            <a:ext cx="2210916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Придбання та модернізація наявного виробництва — типовий підхід при виході на ринки Центральної та Східної Європи.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033939" y="2337122"/>
            <a:ext cx="279053" cy="279053"/>
          </a:xfrm>
          <a:prstGeom prst="roundRect">
            <a:avLst>
              <a:gd name="adj" fmla="val 6668"/>
            </a:avLst>
          </a:prstGeom>
          <a:solidFill>
            <a:srgbClr val="F9F7F7"/>
          </a:solidFill>
          <a:ln/>
        </p:spPr>
      </p:sp>
      <p:sp>
        <p:nvSpPr>
          <p:cNvPr id="12" name="Text 10"/>
          <p:cNvSpPr/>
          <p:nvPr/>
        </p:nvSpPr>
        <p:spPr>
          <a:xfrm>
            <a:off x="6080447" y="2360377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3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36965" y="2379762"/>
            <a:ext cx="190641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Реінвестування прибутку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36965" y="2648024"/>
            <a:ext cx="2210916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Прибуток закордонних підрозділів значною мірою реінвестується у розширення місцевих потужностей.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326803"/>
            <a:ext cx="4722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Злиття, поглинання та спільні підприємства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96119" y="2287935"/>
            <a:ext cx="4722763" cy="1528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На насичених ринках Nestlé купує сильних гравців разом із брендами та каналами збуту. До портфеля у різні роки увійшли: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Carnation, Rowntree, Ralston Purina, Gerber, Wyeth Nutrition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. Угода зі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Starbucks</a:t>
            </a:r>
            <a:pPr algn="l" indent="0" marL="0">
              <a:lnSpc>
                <a:spcPct val="133000"/>
              </a:lnSpc>
              <a:spcAft>
                <a:spcPts val="1050"/>
              </a:spcAft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забезпечила права на роздрібний продаж кави.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Коли вигідніше розділити ризики — компанія обирає спільні підприємства. Приклад: виробництво сухих сніданків разом із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General Mills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611288"/>
            <a:ext cx="6249814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Елементи портфельного інвестування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06822" y="2184871"/>
            <a:ext cx="4103191" cy="1347267"/>
          </a:xfrm>
          <a:prstGeom prst="roundRect">
            <a:avLst>
              <a:gd name="adj" fmla="val 1381"/>
            </a:avLst>
          </a:prstGeom>
          <a:solidFill>
            <a:srgbClr val="C49F8C"/>
          </a:solidFill>
          <a:ln/>
        </p:spPr>
      </p:sp>
      <p:sp>
        <p:nvSpPr>
          <p:cNvPr id="4" name="Text 2"/>
          <p:cNvSpPr/>
          <p:nvPr/>
        </p:nvSpPr>
        <p:spPr>
          <a:xfrm>
            <a:off x="530796" y="2308845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Приклад: L'Oréal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796" y="2626668"/>
            <a:ext cx="3855244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Багаторічне володіння значним пакетом акцій косметичного концерну — вкладення поза основним профілем компанії.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728046" y="2308845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Загальний профіль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28046" y="2626668"/>
            <a:ext cx="3924598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Поведінку Nestlé можна охарактеризувати як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збалансовану й консервативну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: стабільне «захисне» ядро харчового бізнесу доповнюється точковими вкладеннями у перспективні напрями — нішеву й преміальну каву.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653108"/>
            <a:ext cx="4814664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Вибір форми входу на ринок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2288679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Nestlé не застосовує одну стратегію скрізь — форма входу щоразу підбирається під ситуацію.</a:t>
            </a:r>
            <a:endParaRPr lang="en-US" sz="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1831" y="2612380"/>
            <a:ext cx="2628156" cy="8922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8667" y="2626668"/>
            <a:ext cx="2461320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Зрілий ринок із сильними гравцями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8667" y="3088779"/>
            <a:ext cx="2461320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Придбання відомої місцевої компанії разом із брендами та дистрибуцією.</a:t>
            </a:r>
            <a:endParaRPr lang="en-US" sz="9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50704" y="2612380"/>
            <a:ext cx="2628230" cy="8922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417540" y="2626668"/>
            <a:ext cx="171517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Ринок, що формується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3417540" y="2894930"/>
            <a:ext cx="2461394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Будівництво власного виробництва або вхід разом із локальним партнером.</a:t>
            </a:r>
            <a:endParaRPr lang="en-US" sz="9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19651" y="2612380"/>
            <a:ext cx="2628230" cy="89222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186488" y="2626668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Ключовий принцип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6186488" y="2894930"/>
            <a:ext cx="2461394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Вибір визначається рівнем конкуренції, наявними ресурсами та прийнятним ризиком.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698129"/>
            <a:ext cx="7237586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Управління ризиками через диверсифікацію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96119" y="2333699"/>
            <a:ext cx="2634555" cy="1111597"/>
          </a:xfrm>
          <a:prstGeom prst="roundRect">
            <a:avLst>
              <a:gd name="adj" fmla="val 1674"/>
            </a:avLst>
          </a:prstGeom>
          <a:solidFill>
            <a:srgbClr val="F9F7F7"/>
          </a:solidFill>
          <a:ln/>
        </p:spPr>
      </p:sp>
      <p:sp>
        <p:nvSpPr>
          <p:cNvPr id="4" name="Text 2"/>
          <p:cNvSpPr/>
          <p:nvPr/>
        </p:nvSpPr>
        <p:spPr>
          <a:xfrm>
            <a:off x="620092" y="2457673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Географічна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20092" y="2725936"/>
            <a:ext cx="2386608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Присутність на десятках ринків згладжує залежність від кон'юнктури окремої країни.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54648" y="2333699"/>
            <a:ext cx="2634630" cy="1111597"/>
          </a:xfrm>
          <a:prstGeom prst="roundRect">
            <a:avLst>
              <a:gd name="adj" fmla="val 1674"/>
            </a:avLst>
          </a:prstGeom>
          <a:solidFill>
            <a:srgbClr val="F9F7F7"/>
          </a:solidFill>
          <a:ln/>
        </p:spPr>
      </p:sp>
      <p:sp>
        <p:nvSpPr>
          <p:cNvPr id="7" name="Text 5"/>
          <p:cNvSpPr/>
          <p:nvPr/>
        </p:nvSpPr>
        <p:spPr>
          <a:xfrm>
            <a:off x="3378622" y="2457673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Продуктова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78622" y="2725936"/>
            <a:ext cx="2386682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Широкий асортимент категорій компенсує спад попиту в окремому сегменті.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013252" y="2333699"/>
            <a:ext cx="2634555" cy="1111597"/>
          </a:xfrm>
          <a:prstGeom prst="roundRect">
            <a:avLst>
              <a:gd name="adj" fmla="val 1674"/>
            </a:avLst>
          </a:prstGeom>
          <a:solidFill>
            <a:srgbClr val="F9F7F7"/>
          </a:solidFill>
          <a:ln/>
        </p:spPr>
      </p:sp>
      <p:sp>
        <p:nvSpPr>
          <p:cNvPr id="10" name="Text 8"/>
          <p:cNvSpPr/>
          <p:nvPr/>
        </p:nvSpPr>
        <p:spPr>
          <a:xfrm>
            <a:off x="6137225" y="2457673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Локалізація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37225" y="2725936"/>
            <a:ext cx="2386608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Принцип «виробляємо там, де продаємо» зменшує валютні та логістичні ризики.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012999"/>
            <a:ext cx="3679254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Присутність в Україні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925119" y="1586582"/>
            <a:ext cx="4722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Nestlé прийшла на український ринок у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1990-х роках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і закріпилася переважно через придбання місцевих виробників.</a:t>
            </a:r>
            <a:endParaRPr lang="en-US" sz="9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10831" y="2123033"/>
            <a:ext cx="4737050" cy="94171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106242" y="2261295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«Світоч»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4106242" y="2529557"/>
            <a:ext cx="4403378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Придбання львівської кондитерської фабрики з подальшою модернізацією потужностей.</a:t>
            </a:r>
            <a:endParaRPr lang="en-US" sz="9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10831" y="3188717"/>
            <a:ext cx="4737050" cy="94171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106242" y="3326978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«Торчин»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4106242" y="3595241"/>
            <a:ext cx="4403378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Придбання відомої торгової марки — типовий brownfield-підхід компанії.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81757"/>
            <a:ext cx="35583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Висновок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717328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Nestlé демонструє цілісну міжнародну інвестиційну стратегію, у якій поєднані практично всі форми прямого інвестування та елементи портфельного.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96119" y="2253779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01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96119" y="2450232"/>
            <a:ext cx="2634555" cy="14288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6" name="Text 4"/>
          <p:cNvSpPr/>
          <p:nvPr/>
        </p:nvSpPr>
        <p:spPr>
          <a:xfrm>
            <a:off x="496119" y="2540794"/>
            <a:ext cx="209788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Глобальна алокація активів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96119" y="2809056"/>
            <a:ext cx="263455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Виробництво і капітал розміщені по всьому світу.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254648" y="2253779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02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54648" y="2450232"/>
            <a:ext cx="2634630" cy="14288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10" name="Text 8"/>
          <p:cNvSpPr/>
          <p:nvPr/>
        </p:nvSpPr>
        <p:spPr>
          <a:xfrm>
            <a:off x="3254648" y="2540794"/>
            <a:ext cx="210495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Гнучкий вибір форми входу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54648" y="2809056"/>
            <a:ext cx="2634630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Greenfield, brownfield, M&amp;A або СП — залежно від ситуації.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013252" y="2253779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03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13252" y="2450232"/>
            <a:ext cx="2634555" cy="14288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14" name="Text 12"/>
          <p:cNvSpPr/>
          <p:nvPr/>
        </p:nvSpPr>
        <p:spPr>
          <a:xfrm>
            <a:off x="6013252" y="2540794"/>
            <a:ext cx="207399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Послідовна диверсифікація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13252" y="2809056"/>
            <a:ext cx="263455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Географічна, продуктова та виробнича — основа стійкості компанії.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96119" y="3438525"/>
            <a:ext cx="8151763" cy="483617"/>
          </a:xfrm>
          <a:prstGeom prst="roundRect">
            <a:avLst>
              <a:gd name="adj" fmla="val 3847"/>
            </a:avLst>
          </a:prstGeom>
          <a:solidFill>
            <a:srgbClr val="EDD5C4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092" y="3618309"/>
            <a:ext cx="155004" cy="123974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99071" y="3581102"/>
            <a:ext cx="808203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Приклад Nestlé добре ілюструє теоретичні положення про інвестиційні стратегії транснаціональних корпорацій.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2026-06-15T14:19:32Z</dcterms:created>
  <dcterms:modified xsi:type="dcterms:W3CDTF">2026-06-15T14:19:32Z</dcterms:modified>
</cp:coreProperties>
</file>