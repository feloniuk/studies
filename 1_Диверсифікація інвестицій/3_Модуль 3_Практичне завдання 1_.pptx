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ice"/>
      <p:regular r:id="rId201314"/>
    </p:embeddedFont>
    <p:embeddedFont>
      <p:font typeface="Lora"/>
      <p:regular r:id="rId201315"/>
    </p:embeddedFont>
    <p:embeddedFont>
      <p:font typeface="Lor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3453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Система показників аналізу інвестиційних процесів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754585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Перш ніж вкласти кошти в будь-який проект, інвестор має відповісти на просте за формулюванням, але складне за суттю питання: чи варта ця справа тих грошей, які в неї доведеться вкласти.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95772"/>
            <a:ext cx="568367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Проектний аналіз як основа оцінки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3134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Оцінка інвестицій не зводиться лише до фінансів. Проектний аналіз охоплює кілька взаємопов'язаних складових.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269331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1206" y="226933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Технічний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1206" y="2537594"/>
            <a:ext cx="353325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Визначає найдоцільнішу техніку й технологію для проекту.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2269331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14553" y="226933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Комерційний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114553" y="2537594"/>
            <a:ext cx="353332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Оцінює ринок збуту майбутньої продукції.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82541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1206" y="318254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Інституціональний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61206" y="3450803"/>
            <a:ext cx="353325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Аналізує організаційно-правове та адміністративне середовище.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9465" y="3182541"/>
            <a:ext cx="310083" cy="3100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14553" y="3182541"/>
            <a:ext cx="19919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Екологічний та соціальний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114553" y="3450803"/>
            <a:ext cx="353332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Вивчає вплив проекту на суспільство та навколишнє середовище.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14425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Фінансовий та економічний аналіз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075557"/>
            <a:ext cx="4722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Вирішальне значення мають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фінансовий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та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економічний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аналіз. Фінансовий оцінює проект із позиції фірми та її кредиторів, економічний — дохідність з погляду всього суспільства. Саме вони показують реальну ефективність вкладення коштів.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3008933"/>
            <a:ext cx="4722763" cy="880542"/>
          </a:xfrm>
          <a:prstGeom prst="roundRect">
            <a:avLst>
              <a:gd name="adj" fmla="val 2113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092" y="3188717"/>
            <a:ext cx="155004" cy="1239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28071" y="3151510"/>
            <a:ext cx="419583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Інвестиційні витрати нерідко здійснюються одноразово, тоді як результати проект приносить упродовж тривалого часу — це підвищує невизначеність і ризик помилки.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3570"/>
            <a:ext cx="3191768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Дві групи показників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96119" y="872654"/>
            <a:ext cx="860896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Через складність оцінки не існує єдиного універсального критерію. На практиці застосовують цілу систему показників, поділених на дві групи.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42256"/>
            <a:ext cx="6553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77987"/>
            <a:ext cx="488706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NPV — Чиста поточна вартість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851571"/>
            <a:ext cx="4103191" cy="1675879"/>
          </a:xfrm>
          <a:prstGeom prst="roundRect">
            <a:avLst>
              <a:gd name="adj" fmla="val 1110"/>
            </a:avLst>
          </a:prstGeom>
          <a:solidFill>
            <a:srgbClr val="1B5F39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97554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Що показує?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2293367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 яку величину зросте цінність компанії в результаті реалізації проекту. Визначається методом дисконтованих грошових потоків.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1975545"/>
            <a:ext cx="24387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Логіка прийняття рішення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2293367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Якщо приведені до сьогодні доходи перевищують приведені витрати — проект створює вартість і його варто приймати.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801913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NPV &gt; 0 → проект прийнятний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NPV = 0 → проект беззбитковий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NPV &lt; 0 → проект відхиляється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6119" y="3666976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NPV посідає центральне місце в міжнародній практиці оцінки інвестицій.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86185"/>
            <a:ext cx="694573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PI та IRR: рентабельність і внутрішня норма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831" y="2021756"/>
            <a:ext cx="4028182" cy="17355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7242" y="2160017"/>
            <a:ext cx="281292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PI — Індекс рентабельності інвестицій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7242" y="2428280"/>
            <a:ext cx="3694509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Зіставляє поточну вартість грошових надходжень із поточною вартістю вкладених коштів. Зручний для оцінки рівня ефективності, проте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не рекомендується для ранжування варіантів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результат залежить від норми дисконту й містить суб'єктивізм.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699" y="2021756"/>
            <a:ext cx="4028182" cy="17355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15111" y="2160017"/>
            <a:ext cx="28590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IRR — Внутрішня норма прибутковості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815111" y="2428280"/>
            <a:ext cx="3694509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Ставка дисконту, за якої NPV = 0. Економічно означає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максимальний відсоток за залучені кошти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який проект здатний витримати, залишаючись беззбитковим. Знаходиться методом послідовних наближень. Особливо корисна при вирішенні питання про залучення кредитних ресурсів.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12887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MIRR — Модифікована внутрішня норма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274019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MIRR усуває головну ваду звичайної IRR —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проблему множинності значень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для нестандартних грошових потоків. Усі доходи приводяться до кінцевої вартості за середньозваженою вартістю капіталу (WACC).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3008933"/>
            <a:ext cx="4722763" cy="682079"/>
          </a:xfrm>
          <a:prstGeom prst="roundRect">
            <a:avLst>
              <a:gd name="adj" fmla="val 2728"/>
            </a:avLst>
          </a:prstGeom>
          <a:solidFill>
            <a:srgbClr val="B6FCB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092" y="3188717"/>
            <a:ext cx="155004" cy="1239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28071" y="3151510"/>
            <a:ext cx="4195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Правило прийняття рішення: проект приймають, якщо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MIRR &gt; WACC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(вартість джерела фінансування).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00473"/>
            <a:ext cx="49584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Облікові показники: PP та ARR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2036043"/>
            <a:ext cx="2634555" cy="1706984"/>
          </a:xfrm>
          <a:prstGeom prst="roundRect">
            <a:avLst>
              <a:gd name="adj" fmla="val 1090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620092" y="2160017"/>
            <a:ext cx="16613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PP — Термін окупності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0092" y="2428280"/>
            <a:ext cx="238660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Проміжок часу від початку реалізації до моменту, коли доходи зрівняються з інвестиціями. Чим коротший — тим менший ризик. Особливо важливий для ризикованих проектів.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54648" y="2036043"/>
            <a:ext cx="2634630" cy="1706984"/>
          </a:xfrm>
          <a:prstGeom prst="roundRect">
            <a:avLst>
              <a:gd name="adj" fmla="val 1090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3378622" y="2160017"/>
            <a:ext cx="238668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ARR — Облікова норма прибутку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78622" y="2622128"/>
            <a:ext cx="238668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Середньорічний чистий прибуток, поділений на середню величину інвестицій. Порівнюється з ROA: проект прийнятний, коли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ARR &gt; ROA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Простий і поширений на практиці.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13252" y="2036043"/>
            <a:ext cx="2634555" cy="1706984"/>
          </a:xfrm>
          <a:prstGeom prst="roundRect">
            <a:avLst>
              <a:gd name="adj" fmla="val 1090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6137225" y="216001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ROI та ARR'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37225" y="2428280"/>
            <a:ext cx="2386608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ROI дає узагальнену оцінку прибутковості вкладень в активи. ARR' показує співвідношення середньорічних надходжень і початкових інвестицій. Найдоречніші при порівнянні підрозділів компанії.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45257"/>
            <a:ext cx="468243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Порівняння груп показників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980828"/>
            <a:ext cx="8151763" cy="1817415"/>
          </a:xfrm>
          <a:prstGeom prst="roundRect">
            <a:avLst>
              <a:gd name="adj" fmla="val 102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030" y="1985590"/>
            <a:ext cx="2035522" cy="359197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625004" y="2064767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Показник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36552" y="1985590"/>
            <a:ext cx="3012579" cy="359197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7" name="Text 5"/>
          <p:cNvSpPr/>
          <p:nvPr/>
        </p:nvSpPr>
        <p:spPr>
          <a:xfrm>
            <a:off x="2660526" y="2064767"/>
            <a:ext cx="322183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Дисконтні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549131" y="1985590"/>
            <a:ext cx="3093988" cy="359197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5673105" y="2064767"/>
            <a:ext cx="33032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Облікові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5004" y="2426345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Приклади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60526" y="2426345"/>
            <a:ext cx="322183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NPV, PI, IRR, MIRR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73105" y="2426345"/>
            <a:ext cx="33032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PP, ARR, ROI, ROA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5004" y="2787923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Вартість грошей у часі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60526" y="2787923"/>
            <a:ext cx="3221831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Враховується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73105" y="2787923"/>
            <a:ext cx="3303240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Не враховується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5004" y="3154263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Складність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60526" y="3154263"/>
            <a:ext cx="322183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Вища, потребує норми дисконту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73105" y="3154263"/>
            <a:ext cx="33032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Проста, бухгалтерський прибуток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5004" y="3515841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Застосування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60526" y="3515841"/>
            <a:ext cx="322183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Точна оцінка ефективності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73105" y="3515841"/>
            <a:ext cx="33032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Швидке порівняння, підрозділи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70124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Висновок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443707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Система показників аналізу інвестиційних процесів — це не один універсальний критерій, а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взаємодоповнювані групи інструментів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627" y="1983953"/>
            <a:ext cx="186035" cy="1860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9145" y="1980158"/>
            <a:ext cx="30203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Дисконтні показники (NPV, PI, IRR, MIRR)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99145" y="2248421"/>
            <a:ext cx="431973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Враховують вартість грошей у часі й точніше відображають реальну ефективність.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627" y="2897163"/>
            <a:ext cx="186035" cy="1860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9145" y="2893368"/>
            <a:ext cx="28566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Облікові показники (PP, ARR, ROI, ROA)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99145" y="3161630"/>
            <a:ext cx="43197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Простіші та зручні для швидкої оцінки й порівнянь.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2627" y="3611910"/>
            <a:ext cx="186035" cy="1860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9145" y="360811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Комплексний підхід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899145" y="3876377"/>
            <a:ext cx="431973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Лише сукупне застосування обох груп дозволяє ухвалити обґрунтоване рішення з мінімальним ризиком помилки.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2026-06-15T14:18:31Z</dcterms:created>
  <dcterms:modified xsi:type="dcterms:W3CDTF">2026-06-15T14:18:31Z</dcterms:modified>
</cp:coreProperties>
</file>